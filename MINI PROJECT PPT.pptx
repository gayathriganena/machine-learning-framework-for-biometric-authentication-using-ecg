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92" r:id="rId2"/>
    <p:sldId id="326" r:id="rId3"/>
    <p:sldId id="258" r:id="rId4"/>
    <p:sldId id="260" r:id="rId5"/>
    <p:sldId id="330" r:id="rId6"/>
    <p:sldId id="297" r:id="rId7"/>
    <p:sldId id="294" r:id="rId8"/>
    <p:sldId id="334" r:id="rId9"/>
    <p:sldId id="329" r:id="rId10"/>
    <p:sldId id="295" r:id="rId11"/>
    <p:sldId id="304" r:id="rId12"/>
    <p:sldId id="327" r:id="rId13"/>
    <p:sldId id="305" r:id="rId14"/>
    <p:sldId id="331" r:id="rId15"/>
    <p:sldId id="332" r:id="rId16"/>
    <p:sldId id="333" r:id="rId17"/>
    <p:sldId id="298" r:id="rId18"/>
    <p:sldId id="306" r:id="rId19"/>
    <p:sldId id="307" r:id="rId20"/>
    <p:sldId id="308" r:id="rId21"/>
    <p:sldId id="309" r:id="rId22"/>
    <p:sldId id="293"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9B69F0-8EE0-49E2-A7FE-7E1C7A69794D}">
          <p14:sldIdLst>
            <p14:sldId id="292"/>
            <p14:sldId id="326"/>
            <p14:sldId id="258"/>
            <p14:sldId id="260"/>
            <p14:sldId id="330"/>
            <p14:sldId id="297"/>
            <p14:sldId id="294"/>
            <p14:sldId id="334"/>
            <p14:sldId id="329"/>
            <p14:sldId id="295"/>
            <p14:sldId id="304"/>
            <p14:sldId id="327"/>
            <p14:sldId id="305"/>
            <p14:sldId id="331"/>
            <p14:sldId id="332"/>
            <p14:sldId id="333"/>
            <p14:sldId id="298"/>
            <p14:sldId id="306"/>
            <p14:sldId id="307"/>
            <p14:sldId id="308"/>
            <p14:sldId id="309"/>
            <p14:sldId id="293"/>
          </p14:sldIdLst>
        </p14:section>
      </p14:sectionLst>
    </p:ext>
    <p:ext uri="{EFAFB233-063F-42B5-8137-9DF3F51BA10A}">
      <p15:sldGuideLst xmlns:p15="http://schemas.microsoft.com/office/powerpoint/2012/main">
        <p15:guide id="1" orient="horz" pos="2160" userDrawn="1">
          <p15:clr>
            <a:srgbClr val="A4A3A4"/>
          </p15:clr>
        </p15:guide>
        <p15:guide id="2" pos="28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D576"/>
    <a:srgbClr val="1C981C"/>
    <a:srgbClr val="F1EBE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D1C94B-3B41-4EFF-9495-624978009CAB}" v="9" dt="2024-09-25T09:39:41.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8" autoAdjust="0"/>
    <p:restoredTop sz="95033" autoAdjust="0"/>
  </p:normalViewPr>
  <p:slideViewPr>
    <p:cSldViewPr showGuides="1">
      <p:cViewPr varScale="1">
        <p:scale>
          <a:sx n="74" d="100"/>
          <a:sy n="74" d="100"/>
        </p:scale>
        <p:origin x="1080" y="56"/>
      </p:cViewPr>
      <p:guideLst>
        <p:guide orient="horz" pos="2160"/>
        <p:guide pos="288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76E254-3447-4FED-BE5D-75E17F26FD2F}" type="datetimeFigureOut">
              <a:rPr lang="en-US" smtClean="0"/>
              <a:t>4/21/2025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A08021-A090-43BE-897C-F3D49A94E58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A08021-A090-43BE-897C-F3D49A94E58B}" type="slidenum">
              <a:rPr lang="en-US" smtClean="0"/>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9156700" cy="6858000"/>
          </a:xfrm>
          <a:prstGeom prst="rect">
            <a:avLst/>
          </a:prstGeom>
          <a:noFill/>
          <a:ln w="9525">
            <a:noFill/>
          </a:ln>
        </p:spPr>
      </p:pic>
      <p:sp>
        <p:nvSpPr>
          <p:cNvPr id="2051" name="Rectangle 3"/>
          <p:cNvSpPr>
            <a:spLocks noGrp="1" noChangeArrowheads="1"/>
          </p:cNvSpPr>
          <p:nvPr>
            <p:ph type="ctrTitle"/>
          </p:nvPr>
        </p:nvSpPr>
        <p:spPr>
          <a:xfrm>
            <a:off x="468313" y="1196975"/>
            <a:ext cx="8207375" cy="1082675"/>
          </a:xfrm>
        </p:spPr>
        <p:txBody>
          <a:bodyPr/>
          <a:lstStyle>
            <a:lvl1pPr algn="ctr">
              <a:defRPr>
                <a:solidFill>
                  <a:schemeClr val="bg1"/>
                </a:solidFill>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469900" y="2422525"/>
            <a:ext cx="8212138" cy="1752600"/>
          </a:xfrm>
        </p:spPr>
        <p:txBody>
          <a:bodyPr/>
          <a:lstStyle>
            <a:lvl1pPr marL="0" indent="0" algn="ct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A66BB061-AF84-4270-9FBA-8EDD5411C21D}" type="datetime1">
              <a:rPr lang="en-US" smtClean="0"/>
              <a:t>4/21/2025</a:t>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979DFC9-49C2-472C-8164-27EAFCE086AB}" type="slidenum">
              <a:rPr lang="en-US" smtClean="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7A537B-3D2A-41A7-887E-DDDCF5426A3E}" type="datetime1">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B1791C74-877E-49F8-B941-9026B163B97B}" type="datetime1">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335CEB-89CD-44C2-A907-87836DC821F2}" type="datetime1">
              <a:rPr lang="en-US" smtClean="0"/>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020CDA-1510-431B-A8FE-73296C3A58B0}" type="datetime1">
              <a:rPr lang="en-US" smtClean="0"/>
              <a:t>4/21/2025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14EA0A-73B9-4CC6-B9B7-D2779C8CFC68}" type="datetime1">
              <a:rPr lang="en-US" smtClean="0"/>
              <a:t>4/21/2025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C10551-70BD-4797-B564-6D8B3136D577}" type="datetime1">
              <a:rPr lang="en-US" smtClean="0"/>
              <a:t>4/21/2025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449535-4ADB-4D7B-B0D5-901A59FC2260}" type="datetime1">
              <a:rPr lang="en-US" smtClean="0"/>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667AB6-6597-4A22-84EE-6619C15CE88E}" type="datetime1">
              <a:rPr lang="en-US" smtClean="0"/>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632A51-99BB-4DCA-AB3F-A0572F499DDD}" type="datetime1">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56F0F9-CBFC-4E5C-9903-82F3963A43BA}" type="datetime1">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522000" y="1153054"/>
            <a:ext cx="8100000" cy="594000"/>
          </a:xfrm>
        </p:spPr>
        <p:txBody>
          <a:bodyPr/>
          <a:lstStyle>
            <a:lvl1pPr algn="ctr">
              <a:defRPr sz="2400">
                <a:solidFill>
                  <a:schemeClr val="tx1">
                    <a:lumMod val="85000"/>
                    <a:lumOff val="15000"/>
                  </a:schemeClr>
                </a:solidFill>
                <a:latin typeface="+mj-lt"/>
              </a:defRPr>
            </a:lvl1pPr>
          </a:lstStyle>
          <a:p>
            <a:r>
              <a:rPr lang="en-US" dirty="0"/>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4"/>
          <a:stretch>
            <a:fillRect/>
          </a:stretch>
        </p:blipFill>
        <p:spPr>
          <a:xfrm>
            <a:off x="0" y="0"/>
            <a:ext cx="91567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C4327F08-EEF5-4026-A47E-918A0F18DF9F}" type="datetime1">
              <a:rPr lang="en-US" smtClean="0"/>
              <a:t>4/21/2025</a:t>
            </a:fld>
            <a:endParaRPr lang="en-US"/>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6979DFC9-49C2-472C-8164-27EAFCE086A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2286000"/>
          </a:xfrm>
        </p:spPr>
        <p:txBody>
          <a:bodyPr>
            <a:normAutofit fontScale="90000"/>
          </a:bodyPr>
          <a:lstStyle/>
          <a:p>
            <a:pPr algn="ctr" defTabSz="457200">
              <a:spcBef>
                <a:spcPts val="0"/>
              </a:spcBef>
              <a:defRPr/>
            </a:pPr>
            <a: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t>            </a:t>
            </a: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t>       </a:t>
            </a:r>
            <a:endParaRPr lang="en-IN" sz="2000" dirty="0">
              <a:solidFill>
                <a:schemeClr val="tx1"/>
              </a:solidFill>
            </a:endParaRPr>
          </a:p>
        </p:txBody>
      </p:sp>
      <p:sp>
        <p:nvSpPr>
          <p:cNvPr id="3" name="Content Placeholder 2"/>
          <p:cNvSpPr>
            <a:spLocks noGrp="1"/>
          </p:cNvSpPr>
          <p:nvPr>
            <p:ph idx="1"/>
          </p:nvPr>
        </p:nvSpPr>
        <p:spPr>
          <a:xfrm>
            <a:off x="457200" y="2087880"/>
            <a:ext cx="8229600" cy="4389120"/>
          </a:xfrm>
        </p:spPr>
        <p:txBody>
          <a:bodyPr/>
          <a:lstStyle/>
          <a:p>
            <a:pPr marL="0" indent="0">
              <a:buNone/>
            </a:pPr>
            <a:r>
              <a:rPr kumimoji="0" lang="en-IN" sz="1600" b="1" i="0" u="none" strike="noStrike" kern="1200" cap="none" spc="0" normalizeH="0" baseline="0" noProof="0" dirty="0">
                <a:ln>
                  <a:noFill/>
                </a:ln>
                <a:effectLst/>
                <a:uLnTx/>
                <a:uFillTx/>
                <a:latin typeface="Bookman Old Style" panose="02050604050505020204" pitchFamily="18" charset="0"/>
                <a:ea typeface="+mn-ea"/>
                <a:cs typeface="+mn-cs"/>
              </a:rPr>
              <a:t>     </a:t>
            </a:r>
          </a:p>
          <a:p>
            <a:pPr marL="0" indent="0">
              <a:buNone/>
            </a:pPr>
            <a:r>
              <a:rPr kumimoji="0" lang="en-IN" sz="1600" b="1" i="0" u="none" strike="noStrike" kern="1200" cap="none" spc="0" normalizeH="0" baseline="0" noProof="0" dirty="0">
                <a:ln w="15875"/>
                <a:gradFill>
                  <a:gsLst>
                    <a:gs pos="0">
                      <a:schemeClr val="accent1">
                        <a:hueMod val="80000"/>
                      </a:schemeClr>
                    </a:gs>
                    <a:gs pos="100000">
                      <a:schemeClr val="accent1">
                        <a:alpha val="100000"/>
                      </a:schemeClr>
                    </a:gs>
                  </a:gsLst>
                  <a:lin ang="2700000" scaled="0"/>
                </a:gradFill>
                <a:effectLst/>
                <a:uLnTx/>
                <a:uFillTx/>
                <a:latin typeface="Bookman Old Style" panose="02050604050505020204" pitchFamily="18" charset="0"/>
                <a:ea typeface="+mn-ea"/>
                <a:cs typeface="+mn-cs"/>
              </a:rPr>
              <a:t>DEPARTMENT OF ELECTRONICS AND COMMUNICATION ENGINEERING</a:t>
            </a:r>
          </a:p>
          <a:p>
            <a:pPr marL="0" indent="0">
              <a:buNone/>
            </a:pPr>
            <a:endParaRPr kumimoji="0" lang="en-IN" sz="1600" b="1" i="0" u="none" strike="noStrike" kern="1200" cap="none" spc="0" normalizeH="0" baseline="0" noProof="0" dirty="0">
              <a:ln w="15875"/>
              <a:gradFill>
                <a:gsLst>
                  <a:gs pos="0">
                    <a:schemeClr val="accent1">
                      <a:hueMod val="80000"/>
                    </a:schemeClr>
                  </a:gs>
                  <a:gs pos="100000">
                    <a:schemeClr val="accent1">
                      <a:alpha val="100000"/>
                    </a:schemeClr>
                  </a:gs>
                </a:gsLst>
                <a:lin ang="2700000" scaled="0"/>
              </a:gradFill>
              <a:effectLst/>
              <a:uLnTx/>
              <a:uFillTx/>
              <a:latin typeface="Bookman Old Style" panose="02050604050505020204" pitchFamily="18" charset="0"/>
              <a:ea typeface="+mn-ea"/>
              <a:cs typeface="+mn-cs"/>
            </a:endParaRPr>
          </a:p>
        </p:txBody>
      </p:sp>
      <p:sp>
        <p:nvSpPr>
          <p:cNvPr id="7" name="TextBox 6"/>
          <p:cNvSpPr txBox="1"/>
          <p:nvPr/>
        </p:nvSpPr>
        <p:spPr>
          <a:xfrm>
            <a:off x="261850" y="2772787"/>
            <a:ext cx="8832336" cy="87716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lang="en-IN" sz="2400" b="1" dirty="0">
              <a:solidFill>
                <a:srgbClr val="7030A0"/>
              </a:solidFill>
              <a:latin typeface="Bookman Old Style" panose="02050604050505020204" pitchFamily="18" charset="0"/>
            </a:endParaRPr>
          </a:p>
          <a:p>
            <a:pPr marL="0" marR="0" lvl="0" indent="0" algn="ctr" defTabSz="457200" rtl="0" eaLnBrk="1" fontAlgn="auto" latinLnBrk="0" hangingPunct="1">
              <a:lnSpc>
                <a:spcPct val="100000"/>
              </a:lnSpc>
              <a:spcBef>
                <a:spcPts val="0"/>
              </a:spcBef>
              <a:spcAft>
                <a:spcPts val="0"/>
              </a:spcAft>
              <a:buClrTx/>
              <a:buSzTx/>
              <a:buFontTx/>
              <a:buNone/>
              <a:defRPr/>
            </a:pPr>
            <a:endParaRPr lang="en-IN" sz="2400" b="1" dirty="0">
              <a:solidFill>
                <a:srgbClr val="7030A0"/>
              </a:solidFill>
              <a:latin typeface="Bookman Old Style" panose="02050604050505020204" pitchFamily="18" charset="0"/>
            </a:endParaRPr>
          </a:p>
          <a:p>
            <a:pPr marL="0" marR="0" lvl="0" indent="0" algn="ctr" defTabSz="457200" rtl="0" eaLnBrk="1" fontAlgn="auto" latinLnBrk="0" hangingPunct="1">
              <a:lnSpc>
                <a:spcPct val="100000"/>
              </a:lnSpc>
              <a:spcBef>
                <a:spcPts val="0"/>
              </a:spcBef>
              <a:spcAft>
                <a:spcPts val="0"/>
              </a:spcAft>
              <a:buClrTx/>
              <a:buSzTx/>
              <a:buFontTx/>
              <a:buNone/>
              <a:defRPr/>
            </a:pPr>
            <a:r>
              <a:rPr lang="en-IN" sz="2400" b="1" dirty="0">
                <a:solidFill>
                  <a:srgbClr val="7030A0"/>
                </a:solidFill>
                <a:latin typeface="Bookman Old Style" panose="02050604050505020204" pitchFamily="18" charset="0"/>
              </a:rPr>
              <a:t>A MACHINE LEARNING FRAMEWORK FOR BIOMETRIC AUTHENTICATION USING ELECTROCARDIOGRAM</a:t>
            </a:r>
          </a:p>
          <a:p>
            <a:pPr marL="0" marR="0" lvl="0" indent="0" algn="ctr" defTabSz="457200" rtl="0" eaLnBrk="1" fontAlgn="auto" latinLnBrk="0" hangingPunct="1">
              <a:lnSpc>
                <a:spcPct val="100000"/>
              </a:lnSpc>
              <a:spcBef>
                <a:spcPts val="0"/>
              </a:spcBef>
              <a:spcAft>
                <a:spcPts val="0"/>
              </a:spcAft>
              <a:buClrTx/>
              <a:buSzTx/>
              <a:buFontTx/>
              <a:buNone/>
              <a:defRPr/>
            </a:pPr>
            <a:endParaRPr lang="en-IN" sz="2400" b="1" dirty="0">
              <a:ln w="15875"/>
              <a:gradFill>
                <a:gsLst>
                  <a:gs pos="0">
                    <a:srgbClr val="E30000"/>
                  </a:gs>
                  <a:gs pos="100000">
                    <a:srgbClr val="760303"/>
                  </a:gs>
                </a:gsLst>
                <a:lin scaled="0"/>
              </a:gradFill>
              <a:effectLst/>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lang="en-IN" sz="2000" b="1" dirty="0">
                <a:ln w="15875"/>
                <a:gradFill>
                  <a:gsLst>
                    <a:gs pos="0">
                      <a:srgbClr val="E30000"/>
                    </a:gs>
                    <a:gs pos="100000">
                      <a:srgbClr val="760303"/>
                    </a:gs>
                  </a:gsLst>
                  <a:lin scaled="0"/>
                </a:gradFill>
                <a:effectLst/>
                <a:latin typeface="Bookman Old Style" panose="02050604050505020204" pitchFamily="18" charset="0"/>
              </a:rPr>
              <a:t>PRESENTED BY: </a:t>
            </a:r>
            <a:r>
              <a:rPr lang="en-IN" sz="2000" b="1" dirty="0">
                <a:ln w="15875"/>
                <a:gradFill>
                  <a:gsLst>
                    <a:gs pos="0">
                      <a:schemeClr val="accent1">
                        <a:hueMod val="80000"/>
                      </a:schemeClr>
                    </a:gs>
                    <a:gs pos="100000">
                      <a:schemeClr val="accent1">
                        <a:alpha val="100000"/>
                      </a:schemeClr>
                    </a:gs>
                  </a:gsLst>
                  <a:lin ang="2700000" scaled="0"/>
                </a:gradFill>
                <a:effectLst/>
                <a:latin typeface="Bookman Old Style" panose="02050604050505020204" pitchFamily="18" charset="0"/>
              </a:rPr>
              <a:t>  </a:t>
            </a:r>
            <a:r>
              <a:rPr lang="en-IN" sz="2000" b="1" dirty="0">
                <a:latin typeface="Bookman Old Style" panose="02050604050505020204" pitchFamily="18" charset="0"/>
              </a:rPr>
              <a:t>                          </a:t>
            </a:r>
            <a:r>
              <a:rPr lang="en-IN" sz="2000" b="1" dirty="0">
                <a:gradFill>
                  <a:gsLst>
                    <a:gs pos="0">
                      <a:srgbClr val="FE4444"/>
                    </a:gs>
                    <a:gs pos="100000">
                      <a:srgbClr val="832B2B"/>
                    </a:gs>
                  </a:gsLst>
                  <a:lin scaled="0"/>
                </a:gradFill>
                <a:latin typeface="Bookman Old Style" panose="02050604050505020204" pitchFamily="18" charset="0"/>
              </a:rPr>
              <a:t>  </a:t>
            </a:r>
            <a:r>
              <a:rPr lang="en-IN" sz="2000" b="1" dirty="0">
                <a:gradFill>
                  <a:gsLst>
                    <a:gs pos="0">
                      <a:srgbClr val="E30000"/>
                    </a:gs>
                    <a:gs pos="100000">
                      <a:srgbClr val="760303"/>
                    </a:gs>
                  </a:gsLst>
                  <a:lin scaled="0"/>
                </a:gradFill>
                <a:latin typeface="Bookman Old Style" panose="02050604050505020204" pitchFamily="18" charset="0"/>
              </a:rPr>
              <a:t> UNDER GUIDANCE OF:</a:t>
            </a:r>
          </a:p>
          <a:p>
            <a:pPr marL="0" marR="0" lvl="0" indent="0" algn="l" defTabSz="457200" rtl="0" eaLnBrk="1" fontAlgn="auto" latinLnBrk="0" hangingPunct="1">
              <a:lnSpc>
                <a:spcPct val="100000"/>
              </a:lnSpc>
              <a:spcBef>
                <a:spcPts val="0"/>
              </a:spcBef>
              <a:spcAft>
                <a:spcPts val="0"/>
              </a:spcAft>
              <a:buClrTx/>
              <a:buSzTx/>
              <a:buFontTx/>
              <a:buNone/>
              <a:defRPr/>
            </a:pPr>
            <a:endParaRPr lang="en-IN" sz="2000"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lang="en-IN" sz="1600" b="1" dirty="0">
                <a:latin typeface="Bookman Old Style" panose="02050604050505020204" pitchFamily="18" charset="0"/>
              </a:rPr>
              <a:t>G V SIVANY                  2</a:t>
            </a:r>
            <a:r>
              <a:rPr lang="en-US" sz="1600" b="1" dirty="0">
                <a:latin typeface="Bookman Old Style" panose="02050604050505020204" pitchFamily="18" charset="0"/>
              </a:rPr>
              <a:t>2</a:t>
            </a:r>
            <a:r>
              <a:rPr lang="en-IN" sz="1600" b="1" dirty="0">
                <a:latin typeface="Bookman Old Style" panose="02050604050505020204" pitchFamily="18" charset="0"/>
              </a:rPr>
              <a:t>RG1A0424              Dr.SELVAMANI INDRAJITH</a:t>
            </a:r>
          </a:p>
          <a:p>
            <a:pPr marL="0" marR="0" lvl="0" indent="0" algn="l" defTabSz="457200" rtl="0" eaLnBrk="1" fontAlgn="auto" latinLnBrk="0" hangingPunct="1">
              <a:lnSpc>
                <a:spcPct val="100000"/>
              </a:lnSpc>
              <a:spcBef>
                <a:spcPts val="0"/>
              </a:spcBef>
              <a:spcAft>
                <a:spcPts val="0"/>
              </a:spcAft>
              <a:buClrTx/>
              <a:buSzTx/>
              <a:buFontTx/>
              <a:buNone/>
              <a:defRPr/>
            </a:pPr>
            <a:r>
              <a:rPr lang="en-IN" sz="1600" b="1" dirty="0">
                <a:latin typeface="Bookman Old Style" panose="02050604050505020204" pitchFamily="18" charset="0"/>
              </a:rPr>
              <a:t>G GAYATHRI                2</a:t>
            </a:r>
            <a:r>
              <a:rPr lang="en-US" sz="1600" b="1" dirty="0">
                <a:latin typeface="Bookman Old Style" panose="02050604050505020204" pitchFamily="18" charset="0"/>
              </a:rPr>
              <a:t>2</a:t>
            </a:r>
            <a:r>
              <a:rPr lang="en-IN" sz="1600" b="1" dirty="0">
                <a:latin typeface="Bookman Old Style" panose="02050604050505020204" pitchFamily="18" charset="0"/>
              </a:rPr>
              <a:t>RG1A0422                      </a:t>
            </a:r>
            <a:r>
              <a:rPr lang="en-US" altLang="en-IN" sz="1600" b="1" dirty="0">
                <a:latin typeface="Bookman Old Style" panose="02050604050505020204" pitchFamily="18" charset="0"/>
              </a:rPr>
              <a:t> </a:t>
            </a:r>
            <a:r>
              <a:rPr lang="en-IN" sz="1600" b="1" dirty="0">
                <a:latin typeface="Bookman Old Style" panose="02050604050505020204" pitchFamily="18" charset="0"/>
              </a:rPr>
              <a:t>B.E.,ME.,Ph.D</a:t>
            </a:r>
          </a:p>
          <a:p>
            <a:pPr marL="0" marR="0" lvl="0" indent="0" algn="l" defTabSz="457200" rtl="0" eaLnBrk="1" fontAlgn="auto" latinLnBrk="0" hangingPunct="1">
              <a:lnSpc>
                <a:spcPct val="100000"/>
              </a:lnSpc>
              <a:spcBef>
                <a:spcPts val="0"/>
              </a:spcBef>
              <a:spcAft>
                <a:spcPts val="0"/>
              </a:spcAft>
              <a:buClrTx/>
              <a:buSzTx/>
              <a:buFontTx/>
              <a:buNone/>
              <a:defRPr/>
            </a:pPr>
            <a:r>
              <a:rPr lang="en-IN" sz="1600" b="1" dirty="0">
                <a:latin typeface="Bookman Old Style" panose="02050604050505020204" pitchFamily="18" charset="0"/>
              </a:rPr>
              <a:t>G UMA DEVI                 2</a:t>
            </a:r>
            <a:r>
              <a:rPr lang="en-US" sz="1600" b="1" dirty="0">
                <a:latin typeface="Bookman Old Style" panose="02050604050505020204" pitchFamily="18" charset="0"/>
              </a:rPr>
              <a:t>2</a:t>
            </a:r>
            <a:r>
              <a:rPr lang="en-IN" sz="1600" b="1" dirty="0">
                <a:latin typeface="Bookman Old Style" panose="02050604050505020204" pitchFamily="18" charset="0"/>
              </a:rPr>
              <a:t>RG1A0425</a:t>
            </a:r>
            <a:r>
              <a:rPr lang="en-US" altLang="en-IN" sz="1600" b="1" dirty="0">
                <a:latin typeface="Bookman Old Style" panose="02050604050505020204" pitchFamily="18" charset="0"/>
              </a:rPr>
              <a:t>                 </a:t>
            </a:r>
            <a:r>
              <a:rPr lang="en-IN" sz="1600" b="1" dirty="0">
                <a:latin typeface="Bookman Old Style" panose="02050604050505020204" pitchFamily="18" charset="0"/>
                <a:sym typeface="+mn-ea"/>
              </a:rPr>
              <a:t>PROFESSOR AND </a:t>
            </a:r>
            <a:r>
              <a:rPr lang="en-US" altLang="en-IN" sz="1600" b="1" dirty="0">
                <a:latin typeface="Bookman Old Style" panose="02050604050505020204" pitchFamily="18" charset="0"/>
                <a:sym typeface="+mn-ea"/>
              </a:rPr>
              <a:t>HoD</a:t>
            </a:r>
            <a:endParaRPr lang="en-IN" sz="1600" b="1"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lang="en-IN" sz="1600" b="1" dirty="0">
                <a:latin typeface="Bookman Old Style" panose="02050604050505020204" pitchFamily="18" charset="0"/>
              </a:rPr>
              <a:t>S YUKTHIKA                22RG1A0452</a:t>
            </a:r>
            <a:r>
              <a:rPr lang="en-US" altLang="en-IN" sz="1600" b="1" dirty="0">
                <a:latin typeface="Bookman Old Style" panose="02050604050505020204" pitchFamily="18" charset="0"/>
              </a:rPr>
              <a:t>                 </a:t>
            </a:r>
            <a:r>
              <a:rPr lang="en-IN" sz="1600" b="1" dirty="0">
                <a:latin typeface="Bookman Old Style" panose="02050604050505020204" pitchFamily="18" charset="0"/>
                <a:sym typeface="+mn-ea"/>
              </a:rPr>
              <a:t>DEPARTMENT OF ECE</a:t>
            </a:r>
            <a:r>
              <a:rPr lang="en-IN" sz="1600" b="1" dirty="0">
                <a:latin typeface="Bookman Old Style" panose="02050604050505020204" pitchFamily="18" charset="0"/>
              </a:rPr>
              <a:t>           </a:t>
            </a:r>
            <a:r>
              <a:rPr lang="en-US" altLang="en-IN" sz="1600" b="1" dirty="0">
                <a:latin typeface="Bookman Old Style" panose="02050604050505020204" pitchFamily="18" charset="0"/>
              </a:rPr>
              <a:t>        </a:t>
            </a:r>
            <a:r>
              <a:rPr lang="en-IN" sz="1600" b="1" dirty="0">
                <a:latin typeface="Bookman Old Style" panose="02050604050505020204" pitchFamily="18" charset="0"/>
              </a:rPr>
              <a:t>                                                                           </a:t>
            </a:r>
            <a:r>
              <a:rPr lang="en-US" altLang="en-IN" sz="1600" b="1" dirty="0">
                <a:latin typeface="Bookman Old Style" panose="02050604050505020204" pitchFamily="18" charset="0"/>
              </a:rPr>
              <a:t>     </a:t>
            </a:r>
            <a:r>
              <a:rPr lang="en-IN" sz="1600" b="1" dirty="0">
                <a:latin typeface="Bookman Old Style" panose="02050604050505020204" pitchFamily="18" charset="0"/>
              </a:rPr>
              <a:t> </a:t>
            </a:r>
          </a:p>
          <a:p>
            <a:pPr marL="0" marR="0" lvl="0" indent="0" algn="l" defTabSz="457200" rtl="0" eaLnBrk="1" fontAlgn="auto" latinLnBrk="0" hangingPunct="1">
              <a:lnSpc>
                <a:spcPct val="100000"/>
              </a:lnSpc>
              <a:spcBef>
                <a:spcPts val="0"/>
              </a:spcBef>
              <a:spcAft>
                <a:spcPts val="0"/>
              </a:spcAft>
              <a:buClrTx/>
              <a:buSzTx/>
              <a:buFontTx/>
              <a:buNone/>
              <a:defRPr/>
            </a:pPr>
            <a:r>
              <a:rPr lang="en-IN" sz="1600" b="1" dirty="0">
                <a:latin typeface="Bookman Old Style" panose="02050604050505020204" pitchFamily="18" charset="0"/>
              </a:rPr>
              <a:t>                                                       </a:t>
            </a:r>
          </a:p>
          <a:p>
            <a:pPr marL="0" marR="0" lvl="0" indent="0" algn="l" defTabSz="457200" rtl="0" eaLnBrk="1" fontAlgn="auto" latinLnBrk="0" hangingPunct="1">
              <a:lnSpc>
                <a:spcPct val="100000"/>
              </a:lnSpc>
              <a:spcBef>
                <a:spcPts val="0"/>
              </a:spcBef>
              <a:spcAft>
                <a:spcPts val="0"/>
              </a:spcAft>
              <a:buClrTx/>
              <a:buSzTx/>
              <a:buFontTx/>
              <a:buNone/>
              <a:defRPr/>
            </a:pPr>
            <a:endParaRPr lang="en-IN" sz="2400" b="1"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sz="2400" b="1"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schemeClr val="accent1">
                  <a:lumMod val="60000"/>
                  <a:lumOff val="40000"/>
                </a:schemeClr>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IN" sz="1800" b="1" i="0" u="none" strike="noStrike" kern="1200" cap="none" spc="0" normalizeH="0" baseline="0" noProof="0" dirty="0">
              <a:ln>
                <a:noFill/>
              </a:ln>
              <a:solidFill>
                <a:prstClr val="white"/>
              </a:solidFill>
              <a:effectLst/>
              <a:uLnTx/>
              <a:uFillTx/>
              <a:latin typeface="Bookman Old Style" panose="020506040505050202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IN" sz="1800" b="1" i="0" u="none" strike="noStrike" kern="1200" cap="none" spc="0" normalizeH="0" baseline="0" noProof="0" dirty="0">
              <a:ln>
                <a:noFill/>
              </a:ln>
              <a:effectLst/>
              <a:uLnTx/>
              <a:uFillTx/>
              <a:latin typeface="Bookman Old Style" panose="02050604050505020204" pitchFamily="18" charset="0"/>
              <a:ea typeface="+mn-ea"/>
              <a:cs typeface="+mn-cs"/>
            </a:endParaRPr>
          </a:p>
        </p:txBody>
      </p:sp>
      <p:sp>
        <p:nvSpPr>
          <p:cNvPr id="9" name="Slide Number Placeholder 8"/>
          <p:cNvSpPr>
            <a:spLocks noGrp="1"/>
          </p:cNvSpPr>
          <p:nvPr>
            <p:ph type="sldNum" sz="quarter" idx="12"/>
          </p:nvPr>
        </p:nvSpPr>
        <p:spPr/>
        <p:txBody>
          <a:bodyPr/>
          <a:lstStyle/>
          <a:p>
            <a:r>
              <a:rPr lang="en-US" dirty="0"/>
              <a:t>1</a:t>
            </a:r>
          </a:p>
          <a:p>
            <a:endParaRPr lang="en-US" dirty="0"/>
          </a:p>
        </p:txBody>
      </p:sp>
      <p:sp>
        <p:nvSpPr>
          <p:cNvPr id="10" name="Text Box 9"/>
          <p:cNvSpPr txBox="1"/>
          <p:nvPr/>
        </p:nvSpPr>
        <p:spPr>
          <a:xfrm>
            <a:off x="727075" y="304800"/>
            <a:ext cx="7562215" cy="1169035"/>
          </a:xfrm>
          <a:prstGeom prst="rect">
            <a:avLst/>
          </a:prstGeom>
        </p:spPr>
        <p:txBody>
          <a:bodyPr wrap="square">
            <a:noAutofit/>
          </a:bodyPr>
          <a:lstStyle/>
          <a:p>
            <a:pPr defTabSz="266700">
              <a:lnSpc>
                <a:spcPct val="114000"/>
              </a:lnSpc>
              <a:spcAft>
                <a:spcPct val="0"/>
              </a:spcAft>
            </a:pPr>
            <a:r>
              <a:rPr lang="en-US" sz="2800" b="1">
                <a:solidFill>
                  <a:srgbClr val="7030A0"/>
                </a:solidFill>
                <a:latin typeface="Calibri" panose="020F0502020204030204"/>
                <a:ea typeface="Calibri" panose="020F0502020204030204"/>
              </a:rPr>
              <a:t>   </a:t>
            </a:r>
            <a:r>
              <a:rPr sz="2800" b="1">
                <a:solidFill>
                  <a:srgbClr val="7030A0"/>
                </a:solidFill>
                <a:latin typeface="Calibri" panose="020F0502020204030204"/>
                <a:ea typeface="Calibri" panose="020F0502020204030204"/>
              </a:rPr>
              <a:t>Malla Reddy College of Engineering for Women</a:t>
            </a:r>
            <a:endParaRPr b="1">
              <a:solidFill>
                <a:srgbClr val="7030A0"/>
              </a:solidFill>
              <a:latin typeface="Calibri" panose="020F0502020204030204"/>
              <a:ea typeface="Calibri" panose="020F0502020204030204"/>
            </a:endParaRPr>
          </a:p>
          <a:p>
            <a:pPr indent="0" algn="ctr" defTabSz="266700" fontAlgn="auto">
              <a:lnSpc>
                <a:spcPct val="100000"/>
              </a:lnSpc>
              <a:spcAft>
                <a:spcPct val="0"/>
              </a:spcAft>
            </a:pPr>
            <a:r>
              <a:rPr sz="1400" b="1">
                <a:solidFill>
                  <a:srgbClr val="FF0000"/>
                </a:solidFill>
                <a:latin typeface="Calibri" panose="020F0502020204030204"/>
                <a:ea typeface="Calibri" panose="020F0502020204030204"/>
              </a:rPr>
              <a:t> </a:t>
            </a:r>
            <a:r>
              <a:rPr sz="1600" b="1">
                <a:solidFill>
                  <a:srgbClr val="FF0000"/>
                </a:solidFill>
                <a:latin typeface="Calibri" panose="020F0502020204030204"/>
                <a:ea typeface="Calibri" panose="020F0502020204030204"/>
              </a:rPr>
              <a:t>An UGC Autonomous Institution</a:t>
            </a:r>
          </a:p>
          <a:p>
            <a:pPr indent="0" algn="ctr" defTabSz="266700" fontAlgn="auto">
              <a:lnSpc>
                <a:spcPct val="100000"/>
              </a:lnSpc>
              <a:spcAft>
                <a:spcPct val="0"/>
              </a:spcAft>
            </a:pPr>
            <a:r>
              <a:rPr sz="1400" b="1" i="1">
                <a:latin typeface="Calibri" panose="020F0502020204030204"/>
                <a:ea typeface="Calibri" panose="020F0502020204030204"/>
              </a:rPr>
              <a:t>Approved by AICTE New Delhi and Affiliated to JNTU</a:t>
            </a:r>
          </a:p>
          <a:p>
            <a:pPr indent="0" algn="ctr" defTabSz="266700" fontAlgn="auto">
              <a:lnSpc>
                <a:spcPct val="100000"/>
              </a:lnSpc>
              <a:spcAft>
                <a:spcPct val="0"/>
              </a:spcAft>
            </a:pPr>
            <a:r>
              <a:rPr sz="1400" b="1" i="1">
                <a:solidFill>
                  <a:srgbClr val="00B0F0"/>
                </a:solidFill>
                <a:latin typeface="Calibri" panose="020F0502020204030204"/>
                <a:ea typeface="Calibri" panose="020F0502020204030204"/>
              </a:rPr>
              <a:t> B.Tech. Programs CSE, ECE Accredited by NBA; </a:t>
            </a:r>
            <a:r>
              <a:rPr sz="1400" b="1" i="1">
                <a:solidFill>
                  <a:srgbClr val="E36C0A"/>
                </a:solidFill>
                <a:latin typeface="Calibri" panose="020F0502020204030204"/>
                <a:ea typeface="Calibri" panose="020F0502020204030204"/>
              </a:rPr>
              <a:t>An ISO 9001: 2015 Certified Institution </a:t>
            </a:r>
          </a:p>
          <a:p>
            <a:pPr indent="0" algn="ctr" defTabSz="266700" fontAlgn="auto">
              <a:lnSpc>
                <a:spcPct val="100000"/>
              </a:lnSpc>
              <a:spcAft>
                <a:spcPct val="0"/>
              </a:spcAft>
            </a:pPr>
            <a:r>
              <a:rPr sz="1400" b="1" i="1">
                <a:solidFill>
                  <a:srgbClr val="00B0F0"/>
                </a:solidFill>
                <a:latin typeface="Calibri" panose="020F0502020204030204"/>
                <a:ea typeface="Calibri" panose="020F0502020204030204"/>
              </a:rPr>
              <a:t>         </a:t>
            </a:r>
            <a:r>
              <a:rPr sz="1400" b="1" i="1">
                <a:solidFill>
                  <a:srgbClr val="00B050"/>
                </a:solidFill>
                <a:latin typeface="Calibri" panose="020F0502020204030204"/>
                <a:ea typeface="Calibri" panose="020F0502020204030204"/>
              </a:rPr>
              <a:t>INDIA RANKINGS 2023</a:t>
            </a:r>
            <a:r>
              <a:rPr sz="1400" b="1" i="1">
                <a:solidFill>
                  <a:srgbClr val="00B0F0"/>
                </a:solidFill>
                <a:latin typeface="Calibri" panose="020F0502020204030204"/>
                <a:ea typeface="Calibri" panose="020F0502020204030204"/>
              </a:rPr>
              <a:t> </a:t>
            </a:r>
            <a:r>
              <a:rPr sz="1400" b="1" i="1">
                <a:solidFill>
                  <a:srgbClr val="00B050"/>
                </a:solidFill>
                <a:latin typeface="Calibri" panose="020F0502020204030204"/>
                <a:ea typeface="Calibri" panose="020F0502020204030204"/>
              </a:rPr>
              <a:t>NIRF Innovation Rank Band 151-300; IIC 5.0 4-star Rating</a:t>
            </a:r>
            <a:r>
              <a:rPr sz="1400" b="1" i="1">
                <a:latin typeface="Calibri" panose="020F0502020204030204"/>
                <a:ea typeface="Calibri" panose="020F0502020204030204"/>
              </a:rPr>
              <a:t>	</a:t>
            </a:r>
            <a:r>
              <a:rPr lang="en-US" sz="1400" b="1" i="1">
                <a:latin typeface="Calibri" panose="020F0502020204030204"/>
                <a:ea typeface="Calibri" panose="020F0502020204030204"/>
              </a:rPr>
              <a:t>           </a:t>
            </a:r>
            <a:r>
              <a:rPr sz="1400" b="1" i="1">
                <a:latin typeface="Calibri" panose="020F0502020204030204"/>
                <a:ea typeface="Calibri" panose="020F0502020204030204"/>
              </a:rPr>
              <a:t>Maisammaguda, Medchal (Dist), Hyderabad -500100, Telangana.</a:t>
            </a:r>
          </a:p>
          <a:p>
            <a:pPr indent="0" algn="ctr" defTabSz="266700" fontAlgn="auto">
              <a:lnSpc>
                <a:spcPct val="100000"/>
              </a:lnSpc>
              <a:spcAft>
                <a:spcPct val="0"/>
              </a:spcAft>
            </a:pPr>
            <a:r>
              <a:rPr sz="1400" b="1" i="1">
                <a:latin typeface="Calibri" panose="020F0502020204030204"/>
                <a:ea typeface="Calibri" panose="020F0502020204030204"/>
              </a:rPr>
              <a:t>	  Tel:  9346118802     Email : rg.mrcew@gmail.com,    www.mrcew.ac.in  </a:t>
            </a:r>
            <a:r>
              <a:rPr sz="1200" b="1" i="1">
                <a:latin typeface="Calibri" panose="020F0502020204030204"/>
                <a:ea typeface="Calibri" panose="020F0502020204030204"/>
              </a:rPr>
              <a:t> </a:t>
            </a:r>
          </a:p>
        </p:txBody>
      </p:sp>
      <p:pic>
        <p:nvPicPr>
          <p:cNvPr id="11" name="Picture 1" descr="Description: Description: C:\Users\H&amp;S HOD\Desktop\MRCEW 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52083" y="762000"/>
            <a:ext cx="866775" cy="958850"/>
          </a:xfrm>
          <a:prstGeom prst="rect">
            <a:avLst/>
          </a:prstGeom>
          <a:noFill/>
          <a:ln>
            <a:noFill/>
          </a:ln>
        </p:spPr>
      </p:pic>
      <p:sp>
        <p:nvSpPr>
          <p:cNvPr id="12" name="Text Box 2"/>
          <p:cNvSpPr txBox="1">
            <a:spLocks noChangeArrowheads="1"/>
          </p:cNvSpPr>
          <p:nvPr/>
        </p:nvSpPr>
        <p:spPr>
          <a:xfrm>
            <a:off x="7924483" y="837883"/>
            <a:ext cx="1044575" cy="923925"/>
          </a:xfrm>
          <a:prstGeom prst="rect">
            <a:avLst/>
          </a:prstGeom>
          <a:solidFill>
            <a:sysClr val="window" lastClr="FFFFFF"/>
          </a:solidFill>
          <a:ln w="6350">
            <a:solidFill>
              <a:prstClr val="black"/>
            </a:solid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00000"/>
              </a:lnSpc>
              <a:spcAft>
                <a:spcPts val="1000"/>
              </a:spcAft>
            </a:pPr>
            <a:r>
              <a:rPr lang="en-US" altLang="zh-CN" sz="1100" b="1" kern="100" dirty="0">
                <a:solidFill>
                  <a:srgbClr val="E36C09"/>
                </a:solidFill>
                <a:latin typeface="Calibri" panose="020F0502020204030204"/>
                <a:ea typeface="Calibri" panose="020F0502020204030204"/>
                <a:cs typeface="Calibri" panose="020F0502020204030204"/>
                <a:sym typeface="Times New Roman" panose="02020603050405020304"/>
              </a:rPr>
              <a:t>EAPCET  CODE</a:t>
            </a:r>
            <a:r>
              <a:rPr lang="en-US" altLang="zh-CN" sz="900" b="1" kern="100" dirty="0">
                <a:solidFill>
                  <a:srgbClr val="E36C09"/>
                </a:solidFill>
                <a:latin typeface="Calibri" panose="020F0502020204030204"/>
                <a:ea typeface="Calibri" panose="020F0502020204030204"/>
                <a:cs typeface="Calibri" panose="020F0502020204030204"/>
                <a:sym typeface="Times New Roman" panose="02020603050405020304"/>
              </a:rPr>
              <a:t>        </a:t>
            </a:r>
            <a:r>
              <a:rPr lang="en-US" altLang="zh-CN" sz="1100" b="1" kern="100" dirty="0">
                <a:latin typeface="Calibri" panose="020F0502020204030204"/>
                <a:ea typeface="Calibri" panose="020F0502020204030204"/>
                <a:cs typeface="Calibri" panose="020F0502020204030204"/>
                <a:sym typeface="Times New Roman" panose="02020603050405020304"/>
              </a:rPr>
              <a:t>MREW    </a:t>
            </a:r>
            <a:r>
              <a:rPr lang="en-US" altLang="zh-CN" sz="1100" b="1" kern="100" dirty="0">
                <a:solidFill>
                  <a:srgbClr val="E36C09"/>
                </a:solidFill>
                <a:latin typeface="Calibri" panose="020F0502020204030204"/>
                <a:ea typeface="Calibri" panose="020F0502020204030204"/>
                <a:cs typeface="Calibri" panose="020F0502020204030204"/>
                <a:sym typeface="Times New Roman" panose="02020603050405020304"/>
              </a:rPr>
              <a:t>JNTUH CODE </a:t>
            </a:r>
            <a:r>
              <a:rPr lang="en-US" altLang="zh-CN" sz="1100" b="1" kern="100" dirty="0">
                <a:latin typeface="Calibri" panose="020F0502020204030204"/>
                <a:ea typeface="Calibri" panose="020F0502020204030204"/>
                <a:cs typeface="Calibri" panose="020F0502020204030204"/>
                <a:sym typeface="Times New Roman" panose="02020603050405020304"/>
              </a:rPr>
              <a:t>RG</a:t>
            </a:r>
            <a:endParaRPr lang="en-US" altLang="zh-CN" sz="1100" b="1" kern="100" dirty="0">
              <a:solidFill>
                <a:srgbClr val="E36C09"/>
              </a:solidFill>
              <a:latin typeface="Calibri" panose="020F0502020204030204"/>
              <a:ea typeface="Calibri" panose="020F0502020204030204"/>
              <a:cs typeface="Calibri" panose="020F0502020204030204"/>
              <a:sym typeface="Times New Roman" panose="02020603050405020304"/>
            </a:endParaRPr>
          </a:p>
          <a:p>
            <a:pPr algn="ctr">
              <a:lnSpc>
                <a:spcPct val="100000"/>
              </a:lnSpc>
              <a:spcAft>
                <a:spcPts val="1000"/>
              </a:spcAft>
            </a:pPr>
            <a:r>
              <a:rPr lang="en-US" altLang="zh-CN" sz="1100" kern="100" dirty="0">
                <a:latin typeface="Calibri" panose="020F0502020204030204"/>
                <a:ea typeface="Calibri" panose="020F0502020204030204"/>
                <a:cs typeface="Calibri" panose="020F0502020204030204"/>
                <a:sym typeface="Times New Roman" panose="02020603050405020304"/>
              </a:rPr>
              <a:t> </a:t>
            </a:r>
          </a:p>
        </p:txBody>
      </p:sp>
      <p:sp>
        <p:nvSpPr>
          <p:cNvPr id="14" name="Rounded Rectangle 13"/>
          <p:cNvSpPr/>
          <p:nvPr/>
        </p:nvSpPr>
        <p:spPr>
          <a:xfrm>
            <a:off x="3352800" y="2895600"/>
            <a:ext cx="2443480" cy="381000"/>
          </a:xfrm>
          <a:prstGeom prst="roundRect">
            <a:avLst/>
          </a:prstGeom>
          <a:solidFill>
            <a:srgbClr val="F6D576"/>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gradFill>
                  <a:gsLst>
                    <a:gs pos="0">
                      <a:srgbClr val="FE4444"/>
                    </a:gs>
                    <a:gs pos="100000">
                      <a:srgbClr val="832B2B"/>
                    </a:gs>
                  </a:gsLst>
                  <a:lin scaled="0"/>
                </a:gradFill>
                <a:effectLst/>
                <a:latin typeface="Bookman Old Style" panose="02050604050505020204" pitchFamily="18" charset="0"/>
                <a:ea typeface="SimSun" panose="02010600030101010101" pitchFamily="2" charset="-122"/>
                <a:cs typeface="Bookman Old Style" panose="02050604050505020204" pitchFamily="18" charset="0"/>
              </a:rPr>
              <a:t>PROJECT STAGE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635"/>
            <a:ext cx="8229600" cy="582613"/>
          </a:xfrm>
        </p:spPr>
        <p:txBody>
          <a:bodyPr/>
          <a:lstStyle/>
          <a:p>
            <a:r>
              <a:rPr lang="en-US" sz="2800" b="1" dirty="0">
                <a:latin typeface="Bookman Old Style" panose="02050604050505020204" pitchFamily="18" charset="0"/>
                <a:cs typeface="Bookman Old Style" panose="02050604050505020204" pitchFamily="18" charset="0"/>
              </a:rPr>
              <a:t>OBJECTIVE OF THE PROJECT</a:t>
            </a:r>
          </a:p>
        </p:txBody>
      </p:sp>
      <p:sp>
        <p:nvSpPr>
          <p:cNvPr id="3" name="Content Placeholder 2"/>
          <p:cNvSpPr>
            <a:spLocks noGrp="1"/>
          </p:cNvSpPr>
          <p:nvPr>
            <p:ph idx="1"/>
          </p:nvPr>
        </p:nvSpPr>
        <p:spPr>
          <a:xfrm>
            <a:off x="457200" y="1032510"/>
            <a:ext cx="8229600" cy="4953000"/>
          </a:xfrm>
        </p:spPr>
        <p:txBody>
          <a:bodyPr spcCol="180000"/>
          <a:lstStyle/>
          <a:p>
            <a:pPr algn="just">
              <a:lnSpc>
                <a:spcPct val="200000"/>
              </a:lnSpc>
              <a:buFont typeface="Wingdings" panose="05000000000000000000" charset="0"/>
              <a:buChar char="Ø"/>
            </a:pPr>
            <a:r>
              <a:rPr lang="en-US" sz="1600" kern="100" dirty="0">
                <a:effectLst/>
                <a:latin typeface="Bookman Old Style" panose="02050604050505020204" pitchFamily="18" charset="0"/>
                <a:ea typeface="Calibri" panose="020F0502020204030204" pitchFamily="34" charset="0"/>
                <a:cs typeface="Times New Roman" panose="02020603050405020304" pitchFamily="18" charset="0"/>
              </a:rPr>
              <a:t>The objective of this project is to design and develop a robust Machine </a:t>
            </a:r>
            <a:r>
              <a:rPr lang="en-US" sz="1600" kern="100" dirty="0">
                <a:latin typeface="Bookman Old Style" panose="02050604050505020204" pitchFamily="18" charset="0"/>
                <a:ea typeface="Calibri" panose="020F0502020204030204" pitchFamily="34" charset="0"/>
                <a:cs typeface="Times New Roman" panose="02020603050405020304" pitchFamily="18" charset="0"/>
              </a:rPr>
              <a:t>L</a:t>
            </a:r>
            <a:r>
              <a:rPr lang="en-US" sz="1600" kern="100" dirty="0">
                <a:effectLst/>
                <a:latin typeface="Bookman Old Style" panose="02050604050505020204" pitchFamily="18" charset="0"/>
                <a:ea typeface="Calibri" panose="020F0502020204030204" pitchFamily="34" charset="0"/>
                <a:cs typeface="Times New Roman" panose="02020603050405020304" pitchFamily="18" charset="0"/>
              </a:rPr>
              <a:t>earning framework for biometric authentication using electrocardiogram (ECG) signals.</a:t>
            </a:r>
          </a:p>
          <a:p>
            <a:pPr algn="just">
              <a:lnSpc>
                <a:spcPct val="200000"/>
              </a:lnSpc>
              <a:buFont typeface="Wingdings" panose="05000000000000000000" charset="0"/>
              <a:buChar char="Ø"/>
            </a:pPr>
            <a:r>
              <a:rPr lang="en-US" sz="1600" kern="100" dirty="0">
                <a:effectLst/>
                <a:latin typeface="Bookman Old Style" panose="02050604050505020204" pitchFamily="18" charset="0"/>
                <a:ea typeface="Calibri" panose="020F0502020204030204" pitchFamily="34" charset="0"/>
                <a:cs typeface="Times New Roman" panose="02020603050405020304" pitchFamily="18" charset="0"/>
              </a:rPr>
              <a:t>It provides a structured approach for adopting and adjusting Machine </a:t>
            </a:r>
            <a:r>
              <a:rPr lang="en-US" sz="1600" kern="100" dirty="0">
                <a:latin typeface="Bookman Old Style" panose="02050604050505020204" pitchFamily="18" charset="0"/>
                <a:ea typeface="Calibri" panose="020F0502020204030204" pitchFamily="34" charset="0"/>
                <a:cs typeface="Times New Roman" panose="02020603050405020304" pitchFamily="18" charset="0"/>
              </a:rPr>
              <a:t>L</a:t>
            </a:r>
            <a:r>
              <a:rPr lang="en-US" sz="1600" kern="100" dirty="0">
                <a:effectLst/>
                <a:latin typeface="Bookman Old Style" panose="02050604050505020204" pitchFamily="18" charset="0"/>
                <a:ea typeface="Calibri" panose="020F0502020204030204" pitchFamily="34" charset="0"/>
                <a:cs typeface="Times New Roman" panose="02020603050405020304" pitchFamily="18" charset="0"/>
              </a:rPr>
              <a:t>earning techniques to construct ECG-based biometric authentication schemes. </a:t>
            </a:r>
          </a:p>
          <a:p>
            <a:pPr algn="just">
              <a:lnSpc>
                <a:spcPct val="200000"/>
              </a:lnSpc>
              <a:buFont typeface="Wingdings" panose="05000000000000000000" charset="0"/>
              <a:buChar char="Ø"/>
            </a:pPr>
            <a:r>
              <a:rPr lang="en-US" sz="1600" dirty="0">
                <a:latin typeface="Bookman Old Style" panose="02050604050505020204" pitchFamily="18" charset="0"/>
                <a:cs typeface="Times New Roman" panose="02020603050405020304" pitchFamily="18" charset="0"/>
                <a:sym typeface="+mn-ea"/>
              </a:rPr>
              <a:t>This framework enables accurate and reliable biometric authentication using ECG signals, enhancing security and identity verification.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896112"/>
          </a:xfrm>
        </p:spPr>
        <p:txBody>
          <a:bodyPr>
            <a:normAutofit/>
          </a:bodyPr>
          <a:lstStyle/>
          <a:p>
            <a:pPr algn="l"/>
            <a:r>
              <a:rPr lang="en-US" sz="2800" b="1" dirty="0">
                <a:solidFill>
                  <a:schemeClr val="tx1">
                    <a:lumMod val="95000"/>
                    <a:lumOff val="5000"/>
                  </a:schemeClr>
                </a:solidFill>
                <a:latin typeface="Bookman Old Style" panose="02050604050505020204" pitchFamily="18" charset="0"/>
              </a:rPr>
              <a:t>ABSTRACT</a:t>
            </a:r>
          </a:p>
        </p:txBody>
      </p:sp>
      <p:sp>
        <p:nvSpPr>
          <p:cNvPr id="3" name="Content Placeholder 2"/>
          <p:cNvSpPr>
            <a:spLocks noGrp="1"/>
          </p:cNvSpPr>
          <p:nvPr>
            <p:ph idx="1"/>
          </p:nvPr>
        </p:nvSpPr>
        <p:spPr>
          <a:xfrm>
            <a:off x="205105" y="819785"/>
            <a:ext cx="8229600" cy="5187315"/>
          </a:xfrm>
        </p:spPr>
        <p:txBody>
          <a:bodyPr>
            <a:noAutofit/>
          </a:bodyPr>
          <a:lstStyle/>
          <a:p>
            <a:pPr algn="just">
              <a:lnSpc>
                <a:spcPct val="150000"/>
              </a:lnSpc>
              <a:buClr>
                <a:schemeClr val="tx1"/>
              </a:buClr>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This project introduces a framework on how to appropriately adopt and adjust machine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learning</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(ML)</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techniques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used</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construct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electrocardiogram</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(ECG)-based biometric</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authentication</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schemes. </a:t>
            </a:r>
          </a:p>
          <a:p>
            <a:pPr algn="just">
              <a:lnSpc>
                <a:spcPct val="150000"/>
              </a:lnSpc>
              <a:buClr>
                <a:schemeClr val="tx1"/>
              </a:buClr>
              <a:buFont typeface="Wingdings" panose="05000000000000000000" pitchFamily="2" charset="2"/>
              <a:buChar char="Ø"/>
            </a:pPr>
            <a:r>
              <a:rPr lang="en-US" sz="1800" dirty="0">
                <a:effectLst/>
                <a:latin typeface="Bookman Old Style" panose="02050604050505020204" pitchFamily="18" charset="0"/>
                <a:ea typeface="Calibri" panose="020F0502020204030204" pitchFamily="34" charset="0"/>
              </a:rPr>
              <a:t>Magnetic resonance imaging (MRI) is used to detect and diagnose brain tumors. However, the manual identification of brain tumors from a large number of MRI images in clinical practice solely depends on the time and experience of medical professionals.</a:t>
            </a:r>
          </a:p>
          <a:p>
            <a:pPr algn="just">
              <a:lnSpc>
                <a:spcPct val="150000"/>
              </a:lnSpc>
              <a:buClr>
                <a:schemeClr val="tx1"/>
              </a:buClr>
              <a:buFont typeface="Wingdings" panose="05000000000000000000" pitchFamily="2" charset="2"/>
              <a:buChar char="Ø"/>
            </a:pPr>
            <a:r>
              <a:rPr lang="en-US" sz="1800" dirty="0">
                <a:effectLst/>
                <a:latin typeface="Bookman Old Style" panose="02050604050505020204" pitchFamily="18" charset="0"/>
                <a:ea typeface="Calibri" panose="020F0502020204030204" pitchFamily="34" charset="0"/>
              </a:rPr>
              <a:t>This paper aims to design an efficient framework for brain tumor segmentation and classification using deep learning techniques.</a:t>
            </a:r>
          </a:p>
          <a:p>
            <a:pPr algn="just">
              <a:lnSpc>
                <a:spcPct val="150000"/>
              </a:lnSpc>
              <a:buClr>
                <a:schemeClr val="tx1"/>
              </a:buClr>
              <a:buFont typeface="Wingdings" panose="05000000000000000000" pitchFamily="2" charset="2"/>
              <a:buChar char="Ø"/>
            </a:pPr>
            <a:r>
              <a:rPr lang="en-US" sz="1800" dirty="0">
                <a:effectLst/>
                <a:latin typeface="Bookman Old Style" panose="02050604050505020204" pitchFamily="18" charset="0"/>
                <a:ea typeface="Calibri" panose="020F0502020204030204" pitchFamily="34" charset="0"/>
              </a:rPr>
              <a:t> The study employs the 3D-UNet model for the volumetric segmentation of the MRI images, followed by the classification of the tumor using CNNs. </a:t>
            </a:r>
          </a:p>
        </p:txBody>
      </p:sp>
      <p:sp>
        <p:nvSpPr>
          <p:cNvPr id="6" name="Slide Number Placeholder 5"/>
          <p:cNvSpPr>
            <a:spLocks noGrp="1"/>
          </p:cNvSpPr>
          <p:nvPr>
            <p:ph type="sldNum" sz="quarter" idx="12"/>
          </p:nvPr>
        </p:nvSpPr>
        <p:spPr/>
        <p:txBody>
          <a:bodyPr/>
          <a:lstStyle/>
          <a:p>
            <a:fld id="{6979DFC9-49C2-472C-8164-27EAFCE086AB}"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229600" cy="896112"/>
          </a:xfrm>
        </p:spPr>
        <p:txBody>
          <a:bodyPr>
            <a:normAutofit/>
          </a:bodyPr>
          <a:lstStyle/>
          <a:p>
            <a:pPr algn="l"/>
            <a:r>
              <a:rPr lang="en-US" sz="2800" b="1" dirty="0">
                <a:solidFill>
                  <a:schemeClr val="tx1">
                    <a:lumMod val="95000"/>
                    <a:lumOff val="5000"/>
                  </a:schemeClr>
                </a:solidFill>
                <a:latin typeface="Bookman Old Style" panose="02050604050505020204" pitchFamily="18" charset="0"/>
              </a:rPr>
              <a:t>INTRODUCTION</a:t>
            </a:r>
          </a:p>
        </p:txBody>
      </p:sp>
      <p:sp>
        <p:nvSpPr>
          <p:cNvPr id="3" name="Content Placeholder 2"/>
          <p:cNvSpPr>
            <a:spLocks noGrp="1"/>
          </p:cNvSpPr>
          <p:nvPr>
            <p:ph idx="1"/>
          </p:nvPr>
        </p:nvSpPr>
        <p:spPr>
          <a:xfrm>
            <a:off x="457200" y="1296035"/>
            <a:ext cx="8229600" cy="4876800"/>
          </a:xfrm>
        </p:spPr>
        <p:txBody>
          <a:bodyPr>
            <a:normAutofit/>
          </a:bodyPr>
          <a:lstStyle/>
          <a:p>
            <a:pPr algn="just">
              <a:lnSpc>
                <a:spcPct val="200000"/>
              </a:lnSpc>
              <a:buClr>
                <a:schemeClr val="tx1"/>
              </a:buClr>
              <a:buFont typeface="Wingdings" panose="05000000000000000000" pitchFamily="2" charset="2"/>
              <a:buChar char="Ø"/>
            </a:pPr>
            <a:r>
              <a:rPr lang="en-US" sz="1600" dirty="0">
                <a:latin typeface="Bookman Old Style" panose="02050604050505020204" pitchFamily="18" charset="0"/>
                <a:cs typeface="Times New Roman" panose="02020603050405020304" pitchFamily="18" charset="0"/>
              </a:rPr>
              <a:t>Abnormal growth of cells or tissues in the brain can lead to a brain tumor. Neither the exact symptoms of a brain tumor nor the reasons that cause brain tumors are known today. </a:t>
            </a:r>
          </a:p>
          <a:p>
            <a:pPr algn="just">
              <a:lnSpc>
                <a:spcPct val="200000"/>
              </a:lnSpc>
              <a:buClr>
                <a:schemeClr val="tx1"/>
              </a:buClr>
              <a:buFont typeface="Wingdings" panose="05000000000000000000" pitchFamily="2" charset="2"/>
              <a:buChar char="Ø"/>
            </a:pPr>
            <a:r>
              <a:rPr lang="en-US" sz="1600" dirty="0">
                <a:latin typeface="Bookman Old Style" panose="02050604050505020204" pitchFamily="18" charset="0"/>
                <a:cs typeface="Times New Roman" panose="02020603050405020304" pitchFamily="18" charset="0"/>
              </a:rPr>
              <a:t>This research is based on 3D segmentation of MRI scan.</a:t>
            </a:r>
          </a:p>
          <a:p>
            <a:pPr algn="just">
              <a:lnSpc>
                <a:spcPct val="200000"/>
              </a:lnSpc>
              <a:buClr>
                <a:schemeClr val="tx1"/>
              </a:buClr>
              <a:buFont typeface="Wingdings" panose="05000000000000000000" pitchFamily="2" charset="2"/>
              <a:buChar char="Ø"/>
            </a:pPr>
            <a:r>
              <a:rPr lang="en-US" sz="1600" dirty="0">
                <a:latin typeface="Bookman Old Style" panose="02050604050505020204" pitchFamily="18" charset="0"/>
                <a:cs typeface="Times New Roman" panose="02020603050405020304" pitchFamily="18" charset="0"/>
              </a:rPr>
              <a:t>The MRI is an important tool for the detection, diagnosis, and monitoring of brain tumors. Effective classification and segmentation of MRI images is quite challenging.</a:t>
            </a:r>
          </a:p>
          <a:p>
            <a:pPr algn="just">
              <a:lnSpc>
                <a:spcPct val="200000"/>
              </a:lnSpc>
              <a:buClr>
                <a:schemeClr val="tx1"/>
              </a:buClr>
              <a:buFont typeface="Wingdings" panose="05000000000000000000" pitchFamily="2" charset="2"/>
              <a:buChar char="Ø"/>
            </a:pPr>
            <a:r>
              <a:rPr lang="en-US" sz="1600" dirty="0">
                <a:latin typeface="Bookman Old Style" panose="02050604050505020204" pitchFamily="18" charset="0"/>
                <a:cs typeface="Times New Roman" panose="02020603050405020304" pitchFamily="18" charset="0"/>
              </a:rPr>
              <a:t>The research work focuses on the development of an effective model that can help in the accurate identification of tumor automatically.</a:t>
            </a:r>
          </a:p>
          <a:p>
            <a:pPr algn="just">
              <a:lnSpc>
                <a:spcPct val="200000"/>
              </a:lnSpc>
              <a:buClr>
                <a:schemeClr val="tx1"/>
              </a:buClr>
              <a:buFont typeface="Wingdings" panose="05000000000000000000" pitchFamily="2" charset="2"/>
              <a:buChar char="Ø"/>
            </a:pPr>
            <a:endParaRPr lang="en-US" sz="1600" dirty="0">
              <a:latin typeface="Bookman Old Style" panose="020506040505050202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63BEE-89BF-2A6D-6F90-F3564A6E9634}"/>
              </a:ext>
            </a:extLst>
          </p:cNvPr>
          <p:cNvSpPr>
            <a:spLocks noGrp="1"/>
          </p:cNvSpPr>
          <p:nvPr>
            <p:ph type="title"/>
          </p:nvPr>
        </p:nvSpPr>
        <p:spPr/>
        <p:txBody>
          <a:bodyPr/>
          <a:lstStyle/>
          <a:p>
            <a:r>
              <a:rPr lang="en-IN" b="1" dirty="0">
                <a:latin typeface="Bookman Old Style" panose="02050604050505020204" pitchFamily="18" charset="0"/>
              </a:rPr>
              <a:t>EXISITING SYSTEM:</a:t>
            </a:r>
          </a:p>
        </p:txBody>
      </p:sp>
      <p:sp>
        <p:nvSpPr>
          <p:cNvPr id="4" name="Content Placeholder 3">
            <a:extLst>
              <a:ext uri="{FF2B5EF4-FFF2-40B4-BE49-F238E27FC236}">
                <a16:creationId xmlns:a16="http://schemas.microsoft.com/office/drawing/2014/main" id="{C44C8C07-6E97-D1D5-9D40-D79B15057E9D}"/>
              </a:ext>
            </a:extLst>
          </p:cNvPr>
          <p:cNvSpPr>
            <a:spLocks noGrp="1"/>
          </p:cNvSpPr>
          <p:nvPr>
            <p:ph idx="1"/>
          </p:nvPr>
        </p:nvSpPr>
        <p:spPr>
          <a:xfrm>
            <a:off x="381000" y="1143000"/>
            <a:ext cx="8229600" cy="4953000"/>
          </a:xfrm>
        </p:spPr>
        <p:txBody>
          <a:bodyPr/>
          <a:lstStyle/>
          <a:p>
            <a:pPr>
              <a:lnSpc>
                <a:spcPct val="150000"/>
              </a:lnSpc>
              <a:buFont typeface="Wingdings" panose="05000000000000000000" pitchFamily="2" charset="2"/>
              <a:buChar char="Ø"/>
            </a:pPr>
            <a:r>
              <a:rPr lang="en-IN" sz="1600" dirty="0">
                <a:effectLst/>
                <a:latin typeface="Bookman Old Style" panose="02050604050505020204" pitchFamily="18" charset="0"/>
                <a:ea typeface="Calibri" panose="020F0502020204030204" pitchFamily="34" charset="0"/>
              </a:rPr>
              <a:t>Ultrasound images are having many different advantages like portability and low cost. But due to complex structure it is difficult to detect and segment regions exactly.</a:t>
            </a:r>
          </a:p>
          <a:p>
            <a:pPr>
              <a:lnSpc>
                <a:spcPct val="150000"/>
              </a:lnSpc>
              <a:buFont typeface="Wingdings" panose="05000000000000000000" pitchFamily="2" charset="2"/>
              <a:buChar char="Ø"/>
            </a:pPr>
            <a:r>
              <a:rPr lang="en-US" sz="1600" dirty="0">
                <a:latin typeface="Bookman Old Style" panose="02050604050505020204" pitchFamily="18" charset="0"/>
              </a:rPr>
              <a:t>So author designed Deep learning approach for regularization in multi-domain.</a:t>
            </a:r>
            <a:r>
              <a:rPr lang="en-IN" sz="1600" dirty="0">
                <a:latin typeface="Bookman Old Style" panose="02050604050505020204" pitchFamily="18" charset="0"/>
                <a:ea typeface="Calibri" panose="020F0502020204030204" pitchFamily="34" charset="0"/>
              </a:rPr>
              <a:t> </a:t>
            </a:r>
            <a:endParaRPr lang="en-IN" sz="1600" dirty="0">
              <a:effectLst/>
              <a:latin typeface="Bookman Old Style" panose="02050604050505020204" pitchFamily="18" charset="0"/>
              <a:ea typeface="Calibri" panose="020F0502020204030204" pitchFamily="34" charset="0"/>
            </a:endParaRPr>
          </a:p>
          <a:p>
            <a:pPr>
              <a:lnSpc>
                <a:spcPct val="150000"/>
              </a:lnSpc>
              <a:buFont typeface="Wingdings" panose="05000000000000000000" pitchFamily="2" charset="2"/>
              <a:buChar char="Ø"/>
            </a:pPr>
            <a:r>
              <a:rPr lang="en-US" sz="1600" dirty="0">
                <a:effectLst/>
                <a:latin typeface="Bookman Old Style" panose="02050604050505020204" pitchFamily="18" charset="0"/>
                <a:ea typeface="Calibri" panose="020F0502020204030204" pitchFamily="34" charset="0"/>
              </a:rPr>
              <a:t>Author showed that the existing methods are having drawbacks of time consuming, error-prone as well as depends on operator.</a:t>
            </a:r>
          </a:p>
          <a:p>
            <a:pPr>
              <a:lnSpc>
                <a:spcPct val="150000"/>
              </a:lnSpc>
              <a:buFont typeface="Wingdings" panose="05000000000000000000" pitchFamily="2" charset="2"/>
              <a:buChar char="Ø"/>
            </a:pPr>
            <a:r>
              <a:rPr lang="en-US" sz="1600" dirty="0">
                <a:effectLst/>
                <a:latin typeface="Bookman Old Style" panose="02050604050505020204" pitchFamily="18" charset="0"/>
                <a:ea typeface="Calibri" panose="020F0502020204030204" pitchFamily="34" charset="0"/>
              </a:rPr>
              <a:t>In order to overcome all the existing challenges DCAN(Deep counter aware network is proposed by author for better accuracy and perfect segmentation</a:t>
            </a:r>
            <a:r>
              <a:rPr lang="en-US" sz="2000" dirty="0">
                <a:effectLst/>
                <a:latin typeface="Bookman Old Style" panose="02050604050505020204" pitchFamily="18" charset="0"/>
                <a:ea typeface="Calibri" panose="020F0502020204030204" pitchFamily="34" charset="0"/>
              </a:rPr>
              <a:t>.</a:t>
            </a:r>
            <a:endParaRPr lang="en-IN" sz="2000" dirty="0">
              <a:effectLst/>
              <a:latin typeface="Bookman Old Style" panose="02050604050505020204" pitchFamily="18" charset="0"/>
              <a:ea typeface="Calibri" panose="020F0502020204030204" pitchFamily="34" charset="0"/>
            </a:endParaRPr>
          </a:p>
        </p:txBody>
      </p:sp>
      <p:sp>
        <p:nvSpPr>
          <p:cNvPr id="3" name="Slide Number Placeholder 2">
            <a:extLst>
              <a:ext uri="{FF2B5EF4-FFF2-40B4-BE49-F238E27FC236}">
                <a16:creationId xmlns:a16="http://schemas.microsoft.com/office/drawing/2014/main" id="{ACA7F7E3-09A0-F790-9A47-3EEB49A85FFB}"/>
              </a:ext>
            </a:extLst>
          </p:cNvPr>
          <p:cNvSpPr>
            <a:spLocks noGrp="1"/>
          </p:cNvSpPr>
          <p:nvPr>
            <p:ph type="sldNum" sz="quarter" idx="12"/>
          </p:nvPr>
        </p:nvSpPr>
        <p:spPr/>
        <p:txBody>
          <a:bodyPr/>
          <a:lstStyle/>
          <a:p>
            <a:fld id="{6979DFC9-49C2-472C-8164-27EAFCE086AB}" type="slidenum">
              <a:rPr lang="en-US" smtClean="0"/>
              <a:t>5</a:t>
            </a:fld>
            <a:endParaRPr lang="en-US"/>
          </a:p>
        </p:txBody>
      </p:sp>
    </p:spTree>
    <p:extLst>
      <p:ext uri="{BB962C8B-B14F-4D97-AF65-F5344CB8AC3E}">
        <p14:creationId xmlns:p14="http://schemas.microsoft.com/office/powerpoint/2010/main" val="1580425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428" y="0"/>
            <a:ext cx="8229600" cy="836515"/>
          </a:xfrm>
        </p:spPr>
        <p:txBody>
          <a:bodyPr>
            <a:normAutofit/>
          </a:bodyPr>
          <a:lstStyle/>
          <a:p>
            <a:r>
              <a:rPr lang="en-IN" sz="2800" b="1" dirty="0">
                <a:solidFill>
                  <a:schemeClr val="tx1"/>
                </a:solidFill>
                <a:latin typeface="Bookman Old Style" panose="02050604050505020204" pitchFamily="18" charset="0"/>
              </a:rPr>
              <a:t>PROPOSED METHOD</a:t>
            </a:r>
          </a:p>
        </p:txBody>
      </p:sp>
      <p:sp>
        <p:nvSpPr>
          <p:cNvPr id="3" name="Content Placeholder 2"/>
          <p:cNvSpPr>
            <a:spLocks noGrp="1"/>
          </p:cNvSpPr>
          <p:nvPr>
            <p:ph idx="1"/>
          </p:nvPr>
        </p:nvSpPr>
        <p:spPr>
          <a:xfrm>
            <a:off x="446314" y="836515"/>
            <a:ext cx="8229600" cy="5683250"/>
          </a:xfrm>
        </p:spPr>
        <p:txBody>
          <a:bodyPr/>
          <a:lstStyle/>
          <a:p>
            <a:pPr algn="just">
              <a:lnSpc>
                <a:spcPct val="150000"/>
              </a:lnSpc>
              <a:spcAft>
                <a:spcPts val="1000"/>
              </a:spcAft>
              <a:buClr>
                <a:schemeClr val="tx1">
                  <a:lumMod val="95000"/>
                  <a:lumOff val="5000"/>
                </a:schemeClr>
              </a:buClr>
              <a:buFont typeface="Wingdings" panose="05000000000000000000" pitchFamily="2" charset="2"/>
              <a:buChar char="Ø"/>
            </a:pPr>
            <a:r>
              <a:rPr lang="en-IN" sz="1800" b="1" kern="100" dirty="0">
                <a:latin typeface="Bookman Old Style" panose="02050604050505020204" pitchFamily="18" charset="0"/>
                <a:ea typeface="Calibri" panose="020F0502020204030204" pitchFamily="34" charset="0"/>
                <a:cs typeface="Times New Roman" panose="02020603050405020304" pitchFamily="18" charset="0"/>
              </a:rPr>
              <a:t>SEGMENTATION</a:t>
            </a:r>
            <a:r>
              <a:rPr lang="en-IN" sz="1800" kern="100" dirty="0">
                <a:effectLst/>
                <a:latin typeface="Bookman Old Style" panose="02050604050505020204" pitchFamily="18" charset="0"/>
                <a:ea typeface="Calibri" panose="020F0502020204030204" pitchFamily="34" charset="0"/>
                <a:cs typeface="Times New Roman" panose="02020603050405020304" pitchFamily="18" charset="0"/>
              </a:rPr>
              <a:t>: </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This refers to the process of identifying and delineating different regions or structures within medical images. In the context of brain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tumor</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analysis, segmentation involves accurately outlining the boundaries of the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tumor</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in 3D space. </a:t>
            </a:r>
            <a:r>
              <a:rPr lang="en-IN" sz="1800" b="1" dirty="0">
                <a:effectLst/>
                <a:latin typeface="Bookman Old Style" panose="02050604050505020204" pitchFamily="18" charset="0"/>
                <a:ea typeface="Calibri" panose="020F0502020204030204" pitchFamily="34" charset="0"/>
              </a:rPr>
              <a:t>3D U-Net</a:t>
            </a:r>
            <a:r>
              <a:rPr lang="en-IN" sz="1800" dirty="0">
                <a:effectLst/>
                <a:latin typeface="Bookman Old Style" panose="02050604050505020204" pitchFamily="18" charset="0"/>
                <a:ea typeface="Calibri" panose="020F0502020204030204" pitchFamily="34" charset="0"/>
              </a:rPr>
              <a:t> </a:t>
            </a:r>
            <a:r>
              <a:rPr lang="en-IN" sz="1600" dirty="0">
                <a:effectLst/>
                <a:latin typeface="Bookman Old Style" panose="02050604050505020204" pitchFamily="18" charset="0"/>
                <a:ea typeface="Calibri" panose="020F0502020204030204" pitchFamily="34" charset="0"/>
              </a:rPr>
              <a:t>is a type of neural network architecture primarily used for volumetric image segmentation tasks, particularly in medical image analysis. </a:t>
            </a:r>
            <a:endParaRPr lang="en-IN" sz="1600"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algn="just">
              <a:lnSpc>
                <a:spcPct val="150000"/>
              </a:lnSpc>
              <a:spcAft>
                <a:spcPts val="1000"/>
              </a:spcAft>
              <a:buClr>
                <a:schemeClr val="tx1">
                  <a:lumMod val="95000"/>
                  <a:lumOff val="5000"/>
                </a:schemeClr>
              </a:buClr>
              <a:buFont typeface="Wingdings" panose="05000000000000000000" pitchFamily="2" charset="2"/>
              <a:buChar char="Ø"/>
            </a:pPr>
            <a:r>
              <a:rPr lang="en-IN" sz="1800" b="1" kern="100" dirty="0">
                <a:latin typeface="Bookman Old Style" panose="02050604050505020204" pitchFamily="18" charset="0"/>
                <a:ea typeface="Calibri" panose="020F0502020204030204" pitchFamily="34" charset="0"/>
                <a:cs typeface="Times New Roman" panose="02020603050405020304" pitchFamily="18" charset="0"/>
              </a:rPr>
              <a:t>CLASSIFICATION</a:t>
            </a:r>
            <a:r>
              <a:rPr lang="en-IN" sz="1800" kern="100" dirty="0">
                <a:effectLst/>
                <a:latin typeface="Bookman Old Style" panose="02050604050505020204" pitchFamily="18" charset="0"/>
                <a:ea typeface="Calibri" panose="020F0502020204030204" pitchFamily="34" charset="0"/>
                <a:cs typeface="Times New Roman" panose="02020603050405020304" pitchFamily="18" charset="0"/>
              </a:rPr>
              <a:t>: </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Once the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tumor</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regions are segmented, the next step is to classify the type or nature of the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tumor</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Brain tumors can be categorized into various types (e.g., gliomas, meningiomas), and their malignancy can also be assessed. </a:t>
            </a:r>
            <a:r>
              <a:rPr lang="en-IN" sz="1800" b="1" kern="100" dirty="0">
                <a:solidFill>
                  <a:srgbClr val="000000"/>
                </a:solidFill>
                <a:effectLst/>
                <a:latin typeface="Bookman Old Style" panose="02050604050505020204" pitchFamily="18" charset="0"/>
                <a:ea typeface="Calibri" panose="020F0502020204030204" pitchFamily="34" charset="0"/>
                <a:cs typeface="Times New Roman" panose="02020603050405020304" pitchFamily="18" charset="0"/>
              </a:rPr>
              <a:t>Deep learning</a:t>
            </a:r>
            <a:r>
              <a:rPr lang="en-IN" sz="1800" kern="100" dirty="0">
                <a:solidFill>
                  <a:srgbClr val="000000"/>
                </a:solidFill>
                <a:effectLst/>
                <a:latin typeface="Bookman Old Style" panose="02050604050505020204" pitchFamily="18" charset="0"/>
                <a:ea typeface="Calibri" panose="020F0502020204030204" pitchFamily="34" charset="0"/>
                <a:cs typeface="Times New Roman" panose="02020603050405020304" pitchFamily="18" charset="0"/>
              </a:rPr>
              <a:t> </a:t>
            </a:r>
            <a:r>
              <a:rPr lang="en-IN" sz="1600" kern="100" dirty="0">
                <a:solidFill>
                  <a:srgbClr val="000000"/>
                </a:solidFill>
                <a:effectLst/>
                <a:latin typeface="Bookman Old Style" panose="02050604050505020204" pitchFamily="18" charset="0"/>
                <a:ea typeface="Calibri" panose="020F0502020204030204" pitchFamily="34" charset="0"/>
                <a:cs typeface="Times New Roman" panose="02020603050405020304" pitchFamily="18" charset="0"/>
              </a:rPr>
              <a:t>is a subset of machine learning that focuses on training deep neural networks with multiple layers to learn and represent complex patterns in data. Deep neural networks (DNNs)are composed of interconnected layers of artificial neurons that simulate the structure and functioning of the human brain</a:t>
            </a:r>
            <a:r>
              <a:rPr lang="en-IN" sz="16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buClr>
                <a:schemeClr val="tx1">
                  <a:lumMod val="95000"/>
                  <a:lumOff val="5000"/>
                </a:schemeClr>
              </a:buClr>
              <a:buFont typeface="Wingdings" panose="05000000000000000000" charset="0"/>
              <a:buChar char="Ø"/>
            </a:pPr>
            <a:endParaRPr lang="en-IN" sz="16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indent="0">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708" y="351122"/>
            <a:ext cx="8305800" cy="609600"/>
          </a:xfrm>
        </p:spPr>
        <p:txBody>
          <a:bodyPr>
            <a:normAutofit/>
          </a:bodyPr>
          <a:lstStyle/>
          <a:p>
            <a:r>
              <a:rPr lang="en-US" sz="2800" b="1" dirty="0">
                <a:solidFill>
                  <a:schemeClr val="tx1">
                    <a:lumMod val="95000"/>
                    <a:lumOff val="5000"/>
                  </a:schemeClr>
                </a:solidFill>
                <a:latin typeface="Bookman Old Style" panose="02050604050505020204" pitchFamily="18" charset="0"/>
              </a:rPr>
              <a:t>FLOW CHART FOR PROPOSED METHOD</a:t>
            </a:r>
            <a:endParaRPr lang="en-IN" sz="2800" b="1" dirty="0">
              <a:solidFill>
                <a:schemeClr val="tx1">
                  <a:lumMod val="95000"/>
                  <a:lumOff val="5000"/>
                </a:schemeClr>
              </a:solidFill>
              <a:latin typeface="Bookman Old Style" panose="02050604050505020204" pitchFamily="18" charset="0"/>
            </a:endParaRPr>
          </a:p>
        </p:txBody>
      </p:sp>
      <p:sp>
        <p:nvSpPr>
          <p:cNvPr id="5" name="Slide Number Placeholder 4"/>
          <p:cNvSpPr>
            <a:spLocks noGrp="1"/>
          </p:cNvSpPr>
          <p:nvPr>
            <p:ph type="sldNum" sz="quarter" idx="12"/>
          </p:nvPr>
        </p:nvSpPr>
        <p:spPr/>
        <p:txBody>
          <a:bodyPr/>
          <a:lstStyle/>
          <a:p>
            <a:fld id="{6979DFC9-49C2-472C-8164-27EAFCE086AB}" type="slidenum">
              <a:rPr lang="en-US" smtClean="0"/>
              <a:t>7</a:t>
            </a:fld>
            <a:endParaRPr lang="en-US"/>
          </a:p>
        </p:txBody>
      </p:sp>
      <p:sp>
        <p:nvSpPr>
          <p:cNvPr id="23" name="Rectangle 12">
            <a:extLst>
              <a:ext uri="{FF2B5EF4-FFF2-40B4-BE49-F238E27FC236}">
                <a16:creationId xmlns:a16="http://schemas.microsoft.com/office/drawing/2014/main" id="{63BA90B9-A780-1A67-DEC2-283600AF0E61}"/>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24" name="Group 23">
            <a:extLst>
              <a:ext uri="{FF2B5EF4-FFF2-40B4-BE49-F238E27FC236}">
                <a16:creationId xmlns:a16="http://schemas.microsoft.com/office/drawing/2014/main" id="{2201C2E9-A324-404B-503C-457128F60A43}"/>
              </a:ext>
            </a:extLst>
          </p:cNvPr>
          <p:cNvGrpSpPr/>
          <p:nvPr/>
        </p:nvGrpSpPr>
        <p:grpSpPr>
          <a:xfrm>
            <a:off x="2679350" y="1796461"/>
            <a:ext cx="2969382" cy="3448823"/>
            <a:chOff x="0" y="390525"/>
            <a:chExt cx="1800225" cy="2686050"/>
          </a:xfrm>
        </p:grpSpPr>
        <p:sp>
          <p:nvSpPr>
            <p:cNvPr id="26" name="Rectangle 25">
              <a:extLst>
                <a:ext uri="{FF2B5EF4-FFF2-40B4-BE49-F238E27FC236}">
                  <a16:creationId xmlns:a16="http://schemas.microsoft.com/office/drawing/2014/main" id="{C0C350C8-59AA-059F-40FB-F98964973796}"/>
                </a:ext>
              </a:extLst>
            </p:cNvPr>
            <p:cNvSpPr/>
            <p:nvPr/>
          </p:nvSpPr>
          <p:spPr>
            <a:xfrm>
              <a:off x="47625" y="609600"/>
              <a:ext cx="1752600" cy="3905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Pre-processing</a:t>
              </a:r>
              <a:endParaRPr lang="en-IN" sz="2800" kern="100" dirty="0">
                <a:effectLst/>
                <a:ea typeface="Calibri" panose="020F0502020204030204"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D97CA086-2B09-6513-B52C-4F6E6400453C}"/>
                </a:ext>
              </a:extLst>
            </p:cNvPr>
            <p:cNvSpPr/>
            <p:nvPr/>
          </p:nvSpPr>
          <p:spPr>
            <a:xfrm>
              <a:off x="47625" y="1219200"/>
              <a:ext cx="1752600" cy="3905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Segmentation</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id="{00E51781-1E26-BB7C-6CC2-B9CA9E1356CC}"/>
                </a:ext>
              </a:extLst>
            </p:cNvPr>
            <p:cNvSpPr/>
            <p:nvPr/>
          </p:nvSpPr>
          <p:spPr>
            <a:xfrm>
              <a:off x="47625" y="1847850"/>
              <a:ext cx="1752600" cy="3905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Feature extraction</a:t>
              </a:r>
              <a:endParaRPr lang="en-IN" sz="2800" kern="100" dirty="0">
                <a:effectLst/>
                <a:ea typeface="Calibri" panose="020F0502020204030204" pitchFamily="34" charset="0"/>
                <a:cs typeface="Times New Roman" panose="02020603050405020304" pitchFamily="18" charset="0"/>
              </a:endParaRPr>
            </a:p>
          </p:txBody>
        </p:sp>
        <p:sp>
          <p:nvSpPr>
            <p:cNvPr id="29" name="Rectangle 28">
              <a:extLst>
                <a:ext uri="{FF2B5EF4-FFF2-40B4-BE49-F238E27FC236}">
                  <a16:creationId xmlns:a16="http://schemas.microsoft.com/office/drawing/2014/main" id="{58CB42CA-B43B-FB94-C03A-24CE9EF8609C}"/>
                </a:ext>
              </a:extLst>
            </p:cNvPr>
            <p:cNvSpPr/>
            <p:nvPr/>
          </p:nvSpPr>
          <p:spPr>
            <a:xfrm>
              <a:off x="0" y="2466975"/>
              <a:ext cx="1752600" cy="3905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Classification</a:t>
              </a:r>
              <a:endParaRPr lang="en-IN" sz="2800" kern="100" dirty="0">
                <a:effectLst/>
                <a:ea typeface="Calibri" panose="020F0502020204030204" pitchFamily="34" charset="0"/>
                <a:cs typeface="Times New Roman" panose="02020603050405020304" pitchFamily="18" charset="0"/>
              </a:endParaRPr>
            </a:p>
          </p:txBody>
        </p:sp>
        <p:cxnSp>
          <p:nvCxnSpPr>
            <p:cNvPr id="30" name="Straight Arrow Connector 29">
              <a:extLst>
                <a:ext uri="{FF2B5EF4-FFF2-40B4-BE49-F238E27FC236}">
                  <a16:creationId xmlns:a16="http://schemas.microsoft.com/office/drawing/2014/main" id="{96674D46-3B21-F9F9-91B6-264F90C1BA34}"/>
                </a:ext>
              </a:extLst>
            </p:cNvPr>
            <p:cNvCxnSpPr/>
            <p:nvPr/>
          </p:nvCxnSpPr>
          <p:spPr>
            <a:xfrm>
              <a:off x="838200" y="390525"/>
              <a:ext cx="9525" cy="2190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AFA8114-E086-C8F2-8D39-B6C8914D6F43}"/>
                </a:ext>
              </a:extLst>
            </p:cNvPr>
            <p:cNvCxnSpPr/>
            <p:nvPr/>
          </p:nvCxnSpPr>
          <p:spPr>
            <a:xfrm>
              <a:off x="866775" y="1628775"/>
              <a:ext cx="9525" cy="2190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B9FE560-4DF5-E395-A3A0-AC7742EE185A}"/>
                </a:ext>
              </a:extLst>
            </p:cNvPr>
            <p:cNvCxnSpPr/>
            <p:nvPr/>
          </p:nvCxnSpPr>
          <p:spPr>
            <a:xfrm>
              <a:off x="857250" y="2238375"/>
              <a:ext cx="9525" cy="2190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E71CEDE-AEE6-0EF4-E4D1-5C1CF43A1493}"/>
                </a:ext>
              </a:extLst>
            </p:cNvPr>
            <p:cNvCxnSpPr/>
            <p:nvPr/>
          </p:nvCxnSpPr>
          <p:spPr>
            <a:xfrm>
              <a:off x="847725" y="2857500"/>
              <a:ext cx="9525" cy="2190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DCF3DAE-CF42-1645-DABE-220A72668D17}"/>
                </a:ext>
              </a:extLst>
            </p:cNvPr>
            <p:cNvCxnSpPr/>
            <p:nvPr/>
          </p:nvCxnSpPr>
          <p:spPr>
            <a:xfrm>
              <a:off x="866775" y="1000125"/>
              <a:ext cx="9525" cy="2190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35" name="Rectangle 18">
            <a:extLst>
              <a:ext uri="{FF2B5EF4-FFF2-40B4-BE49-F238E27FC236}">
                <a16:creationId xmlns:a16="http://schemas.microsoft.com/office/drawing/2014/main" id="{113AADFE-809E-D768-7497-1F8FA8D806C4}"/>
              </a:ext>
            </a:extLst>
          </p:cNvPr>
          <p:cNvSpPr>
            <a:spLocks noChangeArrowheads="1"/>
          </p:cNvSpPr>
          <p:nvPr/>
        </p:nvSpPr>
        <p:spPr bwMode="auto">
          <a:xfrm>
            <a:off x="0" y="457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8" name="Rectangle 30">
            <a:extLst>
              <a:ext uri="{FF2B5EF4-FFF2-40B4-BE49-F238E27FC236}">
                <a16:creationId xmlns:a16="http://schemas.microsoft.com/office/drawing/2014/main" id="{F345A00A-FD65-48CB-2A3A-94498FEFC67B}"/>
              </a:ext>
            </a:extLst>
          </p:cNvPr>
          <p:cNvSpPr>
            <a:spLocks noChangeArrowheads="1"/>
          </p:cNvSpPr>
          <p:nvPr/>
        </p:nvSpPr>
        <p:spPr bwMode="auto">
          <a:xfrm>
            <a:off x="988845" y="750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2" name="Rectangle 41">
            <a:extLst>
              <a:ext uri="{FF2B5EF4-FFF2-40B4-BE49-F238E27FC236}">
                <a16:creationId xmlns:a16="http://schemas.microsoft.com/office/drawing/2014/main" id="{E14DAA45-A631-1CB2-C45D-AAF531A9853F}"/>
              </a:ext>
            </a:extLst>
          </p:cNvPr>
          <p:cNvSpPr/>
          <p:nvPr/>
        </p:nvSpPr>
        <p:spPr>
          <a:xfrm>
            <a:off x="2743199" y="5261902"/>
            <a:ext cx="3137553" cy="8349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predication of single image</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0" name="Rectangle 36">
            <a:extLst>
              <a:ext uri="{FF2B5EF4-FFF2-40B4-BE49-F238E27FC236}">
                <a16:creationId xmlns:a16="http://schemas.microsoft.com/office/drawing/2014/main" id="{41B8B9EB-A83A-FBF0-A292-A9CAD80789F2}"/>
              </a:ext>
            </a:extLst>
          </p:cNvPr>
          <p:cNvSpPr>
            <a:spLocks noChangeArrowheads="1"/>
          </p:cNvSpPr>
          <p:nvPr/>
        </p:nvSpPr>
        <p:spPr bwMode="auto">
          <a:xfrm>
            <a:off x="-149392" y="42722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2" name="Rectangle 51">
            <a:extLst>
              <a:ext uri="{FF2B5EF4-FFF2-40B4-BE49-F238E27FC236}">
                <a16:creationId xmlns:a16="http://schemas.microsoft.com/office/drawing/2014/main" id="{B85E4032-0129-59E9-8C92-11E0706F843C}"/>
              </a:ext>
            </a:extLst>
          </p:cNvPr>
          <p:cNvSpPr/>
          <p:nvPr/>
        </p:nvSpPr>
        <p:spPr>
          <a:xfrm>
            <a:off x="2743199" y="1292938"/>
            <a:ext cx="3137553" cy="4638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Selection of dataset</a:t>
            </a:r>
            <a:endParaRPr lang="en-IN" sz="2800" kern="100" dirty="0">
              <a:effectLst/>
              <a:ea typeface="Calibri" panose="020F0502020204030204" pitchFamily="34"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E4804-67F1-5586-BF4B-B7941C25C920}"/>
              </a:ext>
            </a:extLst>
          </p:cNvPr>
          <p:cNvSpPr>
            <a:spLocks noGrp="1"/>
          </p:cNvSpPr>
          <p:nvPr>
            <p:ph type="title"/>
          </p:nvPr>
        </p:nvSpPr>
        <p:spPr/>
        <p:txBody>
          <a:bodyPr/>
          <a:lstStyle/>
          <a:p>
            <a:endParaRPr lang="en-IN"/>
          </a:p>
        </p:txBody>
      </p:sp>
      <p:sp>
        <p:nvSpPr>
          <p:cNvPr id="3" name="Slide Number Placeholder 2">
            <a:extLst>
              <a:ext uri="{FF2B5EF4-FFF2-40B4-BE49-F238E27FC236}">
                <a16:creationId xmlns:a16="http://schemas.microsoft.com/office/drawing/2014/main" id="{87F16DDB-932E-5B1C-C3E0-9A9D137D184E}"/>
              </a:ext>
            </a:extLst>
          </p:cNvPr>
          <p:cNvSpPr>
            <a:spLocks noGrp="1"/>
          </p:cNvSpPr>
          <p:nvPr>
            <p:ph type="sldNum" sz="quarter" idx="12"/>
          </p:nvPr>
        </p:nvSpPr>
        <p:spPr/>
        <p:txBody>
          <a:bodyPr/>
          <a:lstStyle/>
          <a:p>
            <a:fld id="{6979DFC9-49C2-472C-8164-27EAFCE086AB}" type="slidenum">
              <a:rPr lang="en-US" smtClean="0"/>
              <a:t>8</a:t>
            </a:fld>
            <a:endParaRPr lang="en-US"/>
          </a:p>
        </p:txBody>
      </p:sp>
    </p:spTree>
    <p:extLst>
      <p:ext uri="{BB962C8B-B14F-4D97-AF65-F5344CB8AC3E}">
        <p14:creationId xmlns:p14="http://schemas.microsoft.com/office/powerpoint/2010/main" val="1660022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D46F8FB-17AC-6806-FBAD-6C235E9E8E3C}"/>
              </a:ext>
            </a:extLst>
          </p:cNvPr>
          <p:cNvSpPr>
            <a:spLocks noGrp="1"/>
          </p:cNvSpPr>
          <p:nvPr>
            <p:ph type="title"/>
          </p:nvPr>
        </p:nvSpPr>
        <p:spPr>
          <a:xfrm>
            <a:off x="457200" y="0"/>
            <a:ext cx="8229600" cy="822325"/>
          </a:xfrm>
        </p:spPr>
        <p:txBody>
          <a:bodyPr/>
          <a:lstStyle/>
          <a:p>
            <a:r>
              <a:rPr lang="en-IN" b="1" dirty="0">
                <a:latin typeface="Bookman Old Style" panose="02050604050505020204" pitchFamily="18" charset="0"/>
              </a:rPr>
              <a:t>PROCEDURE:</a:t>
            </a:r>
          </a:p>
        </p:txBody>
      </p:sp>
      <p:sp>
        <p:nvSpPr>
          <p:cNvPr id="2" name="Slide Number Placeholder 1">
            <a:extLst>
              <a:ext uri="{FF2B5EF4-FFF2-40B4-BE49-F238E27FC236}">
                <a16:creationId xmlns:a16="http://schemas.microsoft.com/office/drawing/2014/main" id="{1BCE2D87-E59E-2783-C4A9-E2BC7EEF2FFC}"/>
              </a:ext>
            </a:extLst>
          </p:cNvPr>
          <p:cNvSpPr>
            <a:spLocks noGrp="1"/>
          </p:cNvSpPr>
          <p:nvPr>
            <p:ph type="sldNum" sz="quarter" idx="12"/>
          </p:nvPr>
        </p:nvSpPr>
        <p:spPr/>
        <p:txBody>
          <a:bodyPr/>
          <a:lstStyle/>
          <a:p>
            <a:fld id="{6979DFC9-49C2-472C-8164-27EAFCE086AB}" type="slidenum">
              <a:rPr lang="en-US" smtClean="0"/>
              <a:t>9</a:t>
            </a:fld>
            <a:endParaRPr lang="en-US"/>
          </a:p>
        </p:txBody>
      </p:sp>
      <p:pic>
        <p:nvPicPr>
          <p:cNvPr id="3" name="Google Shape;153;p17">
            <a:extLst>
              <a:ext uri="{FF2B5EF4-FFF2-40B4-BE49-F238E27FC236}">
                <a16:creationId xmlns:a16="http://schemas.microsoft.com/office/drawing/2014/main" id="{1D1551C9-912E-AA1A-E9A4-42C7FE4E6DD9}"/>
              </a:ext>
            </a:extLst>
          </p:cNvPr>
          <p:cNvPicPr preferRelativeResize="0"/>
          <p:nvPr/>
        </p:nvPicPr>
        <p:blipFill>
          <a:blip r:embed="rId2">
            <a:alphaModFix/>
          </a:blip>
          <a:stretch>
            <a:fillRect/>
          </a:stretch>
        </p:blipFill>
        <p:spPr>
          <a:xfrm>
            <a:off x="457200" y="914400"/>
            <a:ext cx="8229600" cy="5181600"/>
          </a:xfrm>
          <a:prstGeom prst="rect">
            <a:avLst/>
          </a:prstGeom>
          <a:noFill/>
          <a:ln>
            <a:noFill/>
          </a:ln>
        </p:spPr>
      </p:pic>
    </p:spTree>
    <p:extLst>
      <p:ext uri="{BB962C8B-B14F-4D97-AF65-F5344CB8AC3E}">
        <p14:creationId xmlns:p14="http://schemas.microsoft.com/office/powerpoint/2010/main" val="591421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172448"/>
            <a:ext cx="8229600" cy="1143000"/>
          </a:xfrm>
        </p:spPr>
        <p:txBody>
          <a:bodyPr>
            <a:normAutofit/>
          </a:bodyPr>
          <a:lstStyle/>
          <a:p>
            <a:r>
              <a:rPr lang="en-IN" sz="2800" b="1" dirty="0">
                <a:latin typeface="Bookman Old Style" panose="02050604050505020204" pitchFamily="18" charset="0"/>
              </a:rPr>
              <a:t>REQUIREMENTS:</a:t>
            </a:r>
          </a:p>
        </p:txBody>
      </p:sp>
      <p:sp>
        <p:nvSpPr>
          <p:cNvPr id="5" name="Content Placeholder 4"/>
          <p:cNvSpPr>
            <a:spLocks noGrp="1"/>
          </p:cNvSpPr>
          <p:nvPr>
            <p:ph idx="1"/>
          </p:nvPr>
        </p:nvSpPr>
        <p:spPr/>
        <p:txBody>
          <a:bodyPr/>
          <a:lstStyle/>
          <a:p>
            <a:pPr marL="274320" lvl="0" indent="-217170" algn="l" rtl="0">
              <a:lnSpc>
                <a:spcPct val="100000"/>
              </a:lnSpc>
              <a:spcBef>
                <a:spcPts val="400"/>
              </a:spcBef>
              <a:spcAft>
                <a:spcPts val="0"/>
              </a:spcAft>
              <a:buClr>
                <a:srgbClr val="0C0C0C"/>
              </a:buClr>
              <a:buSzPts val="1000"/>
              <a:buChar char="⚫"/>
            </a:pPr>
            <a:r>
              <a:rPr lang="en-US" sz="2400" b="1" dirty="0">
                <a:latin typeface="Bookman Old Style"/>
                <a:ea typeface="Bookman Old Style"/>
                <a:cs typeface="Bookman Old Style"/>
                <a:sym typeface="Bookman Old Style"/>
              </a:rPr>
              <a:t>HARDWARE REQUIRED:</a:t>
            </a:r>
          </a:p>
          <a:p>
            <a:pPr marL="0" lvl="0" indent="0" algn="l" rtl="0">
              <a:lnSpc>
                <a:spcPct val="100000"/>
              </a:lnSpc>
              <a:spcBef>
                <a:spcPts val="400"/>
              </a:spcBef>
              <a:spcAft>
                <a:spcPts val="0"/>
              </a:spcAft>
              <a:buClr>
                <a:srgbClr val="0C0C0C"/>
              </a:buClr>
              <a:buSzPts val="1900"/>
              <a:buNone/>
            </a:pPr>
            <a:r>
              <a:rPr lang="en-US" sz="2400" b="1" dirty="0">
                <a:latin typeface="Bookman Old Style"/>
                <a:ea typeface="Bookman Old Style"/>
                <a:cs typeface="Bookman Old Style"/>
                <a:sym typeface="Bookman Old Style"/>
              </a:rPr>
              <a:t>     </a:t>
            </a:r>
            <a:r>
              <a:rPr lang="en-US" sz="2000" dirty="0">
                <a:latin typeface="Bookman Old Style"/>
                <a:ea typeface="Bookman Old Style"/>
                <a:cs typeface="Bookman Old Style"/>
                <a:sym typeface="Bookman Old Style"/>
              </a:rPr>
              <a:t>1.System Pentium IV - 2.4 GHz.</a:t>
            </a:r>
          </a:p>
          <a:p>
            <a:pPr marL="0" lvl="0" indent="0" algn="l" rtl="0">
              <a:lnSpc>
                <a:spcPct val="100000"/>
              </a:lnSpc>
              <a:spcBef>
                <a:spcPts val="400"/>
              </a:spcBef>
              <a:spcAft>
                <a:spcPts val="0"/>
              </a:spcAft>
              <a:buClr>
                <a:srgbClr val="0C0C0C"/>
              </a:buClr>
              <a:buSzPts val="1900"/>
              <a:buNone/>
            </a:pPr>
            <a:r>
              <a:rPr lang="en-US" sz="2000" dirty="0">
                <a:latin typeface="Bookman Old Style"/>
                <a:ea typeface="Bookman Old Style"/>
                <a:cs typeface="Bookman Old Style"/>
                <a:sym typeface="Bookman Old Style"/>
              </a:rPr>
              <a:t>      2.Hard Disk - 40 GB</a:t>
            </a:r>
          </a:p>
          <a:p>
            <a:pPr marL="0" lvl="0" indent="0" algn="l" rtl="0">
              <a:spcBef>
                <a:spcPts val="400"/>
              </a:spcBef>
              <a:spcAft>
                <a:spcPts val="0"/>
              </a:spcAft>
              <a:buClr>
                <a:schemeClr val="dk1"/>
              </a:buClr>
              <a:buSzPts val="1100"/>
              <a:buFont typeface="Arial"/>
              <a:buNone/>
            </a:pPr>
            <a:r>
              <a:rPr lang="en-US" sz="2000" dirty="0">
                <a:latin typeface="Bookman Old Style"/>
                <a:ea typeface="Bookman Old Style"/>
                <a:cs typeface="Bookman Old Style"/>
                <a:sym typeface="Bookman Old Style"/>
              </a:rPr>
              <a:t>      3.Monitor - 15 VGA </a:t>
            </a:r>
            <a:r>
              <a:rPr lang="en-US" sz="2000" dirty="0" err="1">
                <a:latin typeface="Bookman Old Style"/>
                <a:ea typeface="Bookman Old Style"/>
                <a:cs typeface="Bookman Old Style"/>
                <a:sym typeface="Bookman Old Style"/>
              </a:rPr>
              <a:t>Colour</a:t>
            </a:r>
            <a:r>
              <a:rPr lang="en-US" sz="2000" dirty="0">
                <a:latin typeface="Bookman Old Style"/>
                <a:ea typeface="Bookman Old Style"/>
                <a:cs typeface="Bookman Old Style"/>
                <a:sym typeface="Bookman Old Style"/>
              </a:rPr>
              <a:t>.</a:t>
            </a:r>
          </a:p>
          <a:p>
            <a:pPr marL="0" lvl="0" indent="0" algn="l" rtl="0">
              <a:spcBef>
                <a:spcPts val="400"/>
              </a:spcBef>
              <a:spcAft>
                <a:spcPts val="0"/>
              </a:spcAft>
              <a:buClr>
                <a:schemeClr val="dk1"/>
              </a:buClr>
              <a:buSzPts val="1100"/>
              <a:buFont typeface="Arial"/>
              <a:buNone/>
            </a:pPr>
            <a:r>
              <a:rPr lang="en-US" sz="2000" dirty="0">
                <a:latin typeface="Bookman Old Style"/>
                <a:ea typeface="Bookman Old Style"/>
                <a:cs typeface="Bookman Old Style"/>
                <a:sym typeface="Bookman Old Style"/>
              </a:rPr>
              <a:t>      4.RAM - 512 Mb.</a:t>
            </a:r>
          </a:p>
          <a:p>
            <a:pPr marL="0" lvl="0" indent="0" algn="l" rtl="0">
              <a:spcBef>
                <a:spcPts val="400"/>
              </a:spcBef>
              <a:spcAft>
                <a:spcPts val="0"/>
              </a:spcAft>
              <a:buClr>
                <a:schemeClr val="dk1"/>
              </a:buClr>
              <a:buSzPts val="1100"/>
              <a:buNone/>
            </a:pPr>
            <a:r>
              <a:rPr lang="en-US" sz="2000" dirty="0">
                <a:latin typeface="Bookman Old Style"/>
                <a:ea typeface="Bookman Old Style"/>
                <a:cs typeface="Bookman Old Style"/>
                <a:sym typeface="Bookman Old Style"/>
              </a:rPr>
              <a:t>      5.Floppy Drive - 1.44 Mb.</a:t>
            </a:r>
          </a:p>
          <a:p>
            <a:pPr marL="0" lvl="0" indent="0" algn="l" rtl="0">
              <a:spcBef>
                <a:spcPts val="400"/>
              </a:spcBef>
              <a:spcAft>
                <a:spcPts val="0"/>
              </a:spcAft>
              <a:buClr>
                <a:schemeClr val="dk1"/>
              </a:buClr>
              <a:buSzPts val="1100"/>
              <a:buNone/>
            </a:pPr>
            <a:endParaRPr lang="en-US" sz="2000" dirty="0">
              <a:latin typeface="Bookman Old Style"/>
              <a:ea typeface="Bookman Old Style"/>
              <a:cs typeface="Bookman Old Style"/>
              <a:sym typeface="Bookman Old Style"/>
            </a:endParaRPr>
          </a:p>
          <a:p>
            <a:pPr marL="274320" lvl="0" indent="-229234" algn="l" rtl="0">
              <a:spcBef>
                <a:spcPts val="360"/>
              </a:spcBef>
              <a:spcAft>
                <a:spcPts val="0"/>
              </a:spcAft>
              <a:buClr>
                <a:srgbClr val="0C0C0C"/>
              </a:buClr>
              <a:buSzPts val="1000"/>
              <a:buChar char="⚫"/>
            </a:pPr>
            <a:r>
              <a:rPr lang="en-US" sz="2000" b="1" dirty="0">
                <a:latin typeface="Bookman Old Style"/>
                <a:ea typeface="Bookman Old Style"/>
                <a:cs typeface="Bookman Old Style"/>
                <a:sym typeface="Bookman Old Style"/>
              </a:rPr>
              <a:t>SOFTWARE REQUIRED:</a:t>
            </a:r>
          </a:p>
          <a:p>
            <a:pPr marL="0" lvl="0" indent="0" algn="just" rtl="0">
              <a:spcBef>
                <a:spcPts val="360"/>
              </a:spcBef>
              <a:spcAft>
                <a:spcPts val="0"/>
              </a:spcAft>
              <a:buNone/>
            </a:pPr>
            <a:r>
              <a:rPr lang="en-US" sz="2000" dirty="0">
                <a:latin typeface="Bookman Old Style"/>
                <a:ea typeface="Bookman Old Style"/>
                <a:cs typeface="Bookman Old Style"/>
                <a:sym typeface="Bookman Old Style"/>
              </a:rPr>
              <a:t>     1.Operating System - Windows</a:t>
            </a:r>
          </a:p>
          <a:p>
            <a:pPr marL="0" lvl="0" indent="0" algn="just" rtl="0">
              <a:spcBef>
                <a:spcPts val="360"/>
              </a:spcBef>
              <a:spcAft>
                <a:spcPts val="0"/>
              </a:spcAft>
              <a:buNone/>
            </a:pPr>
            <a:r>
              <a:rPr lang="en-US" sz="2000" dirty="0">
                <a:latin typeface="Bookman Old Style"/>
                <a:ea typeface="Bookman Old Style"/>
                <a:cs typeface="Bookman Old Style"/>
                <a:sym typeface="Bookman Old Style"/>
              </a:rPr>
              <a:t>     2.Coding Language - Python 3.7</a:t>
            </a:r>
          </a:p>
          <a:p>
            <a:pPr marL="0" lvl="0" indent="0" algn="just" rtl="0">
              <a:spcBef>
                <a:spcPts val="360"/>
              </a:spcBef>
              <a:spcAft>
                <a:spcPts val="0"/>
              </a:spcAft>
              <a:buNone/>
            </a:pPr>
            <a:r>
              <a:rPr lang="en-US" sz="2000" dirty="0">
                <a:latin typeface="Bookman Old Style"/>
                <a:ea typeface="Bookman Old Style"/>
                <a:cs typeface="Bookman Old Style"/>
                <a:sym typeface="Bookman Old Style"/>
              </a:rPr>
              <a:t>     3.Tools Used - Python</a:t>
            </a:r>
          </a:p>
          <a:p>
            <a:pPr marL="0" indent="0">
              <a:buClr>
                <a:schemeClr val="tx1">
                  <a:lumMod val="95000"/>
                  <a:lumOff val="5000"/>
                </a:schemeClr>
              </a:buClr>
              <a:buNone/>
            </a:pPr>
            <a:endParaRPr lang="en-IN" sz="2000" dirty="0">
              <a:latin typeface="Bookman Old Style" panose="02050604050505020204" pitchFamily="18" charset="0"/>
            </a:endParaRPr>
          </a:p>
        </p:txBody>
      </p:sp>
      <p:sp>
        <p:nvSpPr>
          <p:cNvPr id="3" name="Slide Number Placeholder 2"/>
          <p:cNvSpPr>
            <a:spLocks noGrp="1"/>
          </p:cNvSpPr>
          <p:nvPr>
            <p:ph type="sldNum" sz="quarter" idx="12"/>
          </p:nvPr>
        </p:nvSpPr>
        <p:spPr/>
        <p:txBody>
          <a:bodyPr/>
          <a:lstStyle/>
          <a:p>
            <a:fld id="{6979DFC9-49C2-472C-8164-27EAFCE086AB}"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143001"/>
            <a:ext cx="7886700" cy="2852737"/>
          </a:xfrm>
        </p:spPr>
        <p:txBody>
          <a:bodyPr/>
          <a:lstStyle/>
          <a:p>
            <a:r>
              <a:rPr lang="en-IN" dirty="0">
                <a:solidFill>
                  <a:schemeClr val="bg1">
                    <a:lumMod val="95000"/>
                  </a:schemeClr>
                </a:solidFill>
              </a:rPr>
              <a:t>.</a:t>
            </a:r>
          </a:p>
        </p:txBody>
      </p:sp>
      <p:sp>
        <p:nvSpPr>
          <p:cNvPr id="6" name="Text Placeholder 5">
            <a:extLst>
              <a:ext uri="{FF2B5EF4-FFF2-40B4-BE49-F238E27FC236}">
                <a16:creationId xmlns:a16="http://schemas.microsoft.com/office/drawing/2014/main" id="{178AA462-683B-B578-D9B7-19EE14B2FC41}"/>
              </a:ext>
            </a:extLst>
          </p:cNvPr>
          <p:cNvSpPr>
            <a:spLocks noGrp="1"/>
          </p:cNvSpPr>
          <p:nvPr>
            <p:ph type="body" idx="1"/>
          </p:nvPr>
        </p:nvSpPr>
        <p:spPr>
          <a:xfrm>
            <a:off x="314131" y="292101"/>
            <a:ext cx="7886700" cy="850900"/>
          </a:xfrm>
        </p:spPr>
        <p:txBody>
          <a:bodyPr/>
          <a:lstStyle/>
          <a:p>
            <a:r>
              <a:rPr lang="en-US" sz="4000" b="1" dirty="0">
                <a:solidFill>
                  <a:schemeClr val="tx1">
                    <a:lumMod val="95000"/>
                    <a:lumOff val="5000"/>
                  </a:schemeClr>
                </a:solidFill>
                <a:latin typeface="Bookman Old Style" panose="02050604050505020204" pitchFamily="18" charset="0"/>
              </a:rPr>
              <a:t>Schematic Diagram</a:t>
            </a:r>
            <a:endParaRPr lang="en-IN" sz="4000" b="1" dirty="0"/>
          </a:p>
        </p:txBody>
      </p:sp>
      <p:sp>
        <p:nvSpPr>
          <p:cNvPr id="4" name="Slide Number Placeholder 3"/>
          <p:cNvSpPr>
            <a:spLocks noGrp="1"/>
          </p:cNvSpPr>
          <p:nvPr>
            <p:ph type="sldNum" sz="quarter" idx="12"/>
          </p:nvPr>
        </p:nvSpPr>
        <p:spPr/>
        <p:txBody>
          <a:bodyPr/>
          <a:lstStyle/>
          <a:p>
            <a:fld id="{6979DFC9-49C2-472C-8164-27EAFCE086AB}"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99CD-31C4-8C22-D239-15DB338AB17B}"/>
              </a:ext>
            </a:extLst>
          </p:cNvPr>
          <p:cNvSpPr>
            <a:spLocks noGrp="1"/>
          </p:cNvSpPr>
          <p:nvPr>
            <p:ph type="title"/>
          </p:nvPr>
        </p:nvSpPr>
        <p:spPr>
          <a:xfrm>
            <a:off x="628650" y="234950"/>
            <a:ext cx="7886700" cy="1066800"/>
          </a:xfrm>
        </p:spPr>
        <p:txBody>
          <a:bodyPr/>
          <a:lstStyle/>
          <a:p>
            <a:endParaRPr lang="en-IN" dirty="0"/>
          </a:p>
        </p:txBody>
      </p:sp>
      <p:sp>
        <p:nvSpPr>
          <p:cNvPr id="3" name="Text Placeholder 2">
            <a:extLst>
              <a:ext uri="{FF2B5EF4-FFF2-40B4-BE49-F238E27FC236}">
                <a16:creationId xmlns:a16="http://schemas.microsoft.com/office/drawing/2014/main" id="{9BBABD0E-9E5D-CA54-70A7-6244E04019C2}"/>
              </a:ext>
            </a:extLst>
          </p:cNvPr>
          <p:cNvSpPr>
            <a:spLocks noGrp="1"/>
          </p:cNvSpPr>
          <p:nvPr>
            <p:ph type="body" idx="1"/>
          </p:nvPr>
        </p:nvSpPr>
        <p:spPr>
          <a:xfrm>
            <a:off x="332403" y="4267200"/>
            <a:ext cx="7363797" cy="2133600"/>
          </a:xfrm>
        </p:spPr>
        <p:txBody>
          <a:bodyPr/>
          <a:lstStyle/>
          <a:p>
            <a:endParaRPr lang="en-IN" dirty="0"/>
          </a:p>
        </p:txBody>
      </p:sp>
    </p:spTree>
    <p:extLst>
      <p:ext uri="{BB962C8B-B14F-4D97-AF65-F5344CB8AC3E}">
        <p14:creationId xmlns:p14="http://schemas.microsoft.com/office/powerpoint/2010/main" val="2713898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058" y="-228600"/>
            <a:ext cx="8229600" cy="1143000"/>
          </a:xfrm>
        </p:spPr>
        <p:txBody>
          <a:bodyPr/>
          <a:lstStyle/>
          <a:p>
            <a:r>
              <a:rPr lang="en-IN" sz="2800" b="1" dirty="0">
                <a:solidFill>
                  <a:schemeClr val="tx1">
                    <a:lumMod val="95000"/>
                    <a:lumOff val="5000"/>
                  </a:schemeClr>
                </a:solidFill>
                <a:latin typeface="Bookman Old Style" panose="02050604050505020204" pitchFamily="18" charset="0"/>
              </a:rPr>
              <a:t>Result:</a:t>
            </a:r>
          </a:p>
        </p:txBody>
      </p:sp>
      <p:sp>
        <p:nvSpPr>
          <p:cNvPr id="5" name="AutoShape 2" descr="Getting Familiar With Arduino IDE - Beginners Guide on Arduino IDE"/>
          <p:cNvSpPr>
            <a:spLocks noChangeAspect="1" noChangeArrowheads="1"/>
          </p:cNvSpPr>
          <p:nvPr/>
        </p:nvSpPr>
        <p:spPr bwMode="auto">
          <a:xfrm>
            <a:off x="4419600" y="2438400"/>
            <a:ext cx="304800" cy="1143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12" name="Google Shape;153;p17">
            <a:extLst>
              <a:ext uri="{FF2B5EF4-FFF2-40B4-BE49-F238E27FC236}">
                <a16:creationId xmlns:a16="http://schemas.microsoft.com/office/drawing/2014/main" id="{3EE208C4-5C7A-276E-0825-CD90ADE57F0A}"/>
              </a:ext>
            </a:extLst>
          </p:cNvPr>
          <p:cNvPicPr preferRelativeResize="0"/>
          <p:nvPr/>
        </p:nvPicPr>
        <p:blipFill>
          <a:blip r:embed="rId2">
            <a:alphaModFix/>
          </a:blip>
          <a:stretch>
            <a:fillRect/>
          </a:stretch>
        </p:blipFill>
        <p:spPr>
          <a:xfrm>
            <a:off x="914400" y="609600"/>
            <a:ext cx="7010399" cy="3048000"/>
          </a:xfrm>
          <a:prstGeom prst="rect">
            <a:avLst/>
          </a:prstGeom>
          <a:noFill/>
          <a:ln>
            <a:noFill/>
          </a:ln>
        </p:spPr>
      </p:pic>
      <p:pic>
        <p:nvPicPr>
          <p:cNvPr id="13" name="Google Shape;161;g2e7aeaf8240_0_15">
            <a:extLst>
              <a:ext uri="{FF2B5EF4-FFF2-40B4-BE49-F238E27FC236}">
                <a16:creationId xmlns:a16="http://schemas.microsoft.com/office/drawing/2014/main" id="{E0296EE9-EA19-27B2-510C-09B4BE82267C}"/>
              </a:ext>
            </a:extLst>
          </p:cNvPr>
          <p:cNvPicPr preferRelativeResize="0"/>
          <p:nvPr/>
        </p:nvPicPr>
        <p:blipFill>
          <a:blip r:embed="rId3">
            <a:alphaModFix/>
          </a:blip>
          <a:stretch>
            <a:fillRect/>
          </a:stretch>
        </p:blipFill>
        <p:spPr>
          <a:xfrm>
            <a:off x="914400" y="3751112"/>
            <a:ext cx="7010399" cy="2971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CEF68-26B4-1D0A-8C14-8B0CA56364FB}"/>
            </a:ext>
          </a:extLst>
        </p:cNvPr>
        <p:cNvGrpSpPr/>
        <p:nvPr/>
      </p:nvGrpSpPr>
      <p:grpSpPr>
        <a:xfrm>
          <a:off x="0" y="0"/>
          <a:ext cx="0" cy="0"/>
          <a:chOff x="0" y="0"/>
          <a:chExt cx="0" cy="0"/>
        </a:xfrm>
      </p:grpSpPr>
      <p:sp>
        <p:nvSpPr>
          <p:cNvPr id="5" name="AutoShape 2" descr="Getting Familiar With Arduino IDE - Beginners Guide on Arduino IDE">
            <a:extLst>
              <a:ext uri="{FF2B5EF4-FFF2-40B4-BE49-F238E27FC236}">
                <a16:creationId xmlns:a16="http://schemas.microsoft.com/office/drawing/2014/main" id="{A3DAFA62-C019-55F8-3BD2-BB995A281A80}"/>
              </a:ext>
            </a:extLst>
          </p:cNvPr>
          <p:cNvSpPr>
            <a:spLocks noChangeAspect="1" noChangeArrowheads="1"/>
          </p:cNvSpPr>
          <p:nvPr/>
        </p:nvSpPr>
        <p:spPr bwMode="auto">
          <a:xfrm>
            <a:off x="4419600" y="2438400"/>
            <a:ext cx="304800" cy="1143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3" name="Google Shape;169;g2e7aeaf8240_0_23">
            <a:extLst>
              <a:ext uri="{FF2B5EF4-FFF2-40B4-BE49-F238E27FC236}">
                <a16:creationId xmlns:a16="http://schemas.microsoft.com/office/drawing/2014/main" id="{6851472E-FFC4-1C51-1CED-19CC0F750F37}"/>
              </a:ext>
            </a:extLst>
          </p:cNvPr>
          <p:cNvPicPr preferRelativeResize="0"/>
          <p:nvPr/>
        </p:nvPicPr>
        <p:blipFill>
          <a:blip r:embed="rId2">
            <a:alphaModFix/>
          </a:blip>
          <a:stretch>
            <a:fillRect/>
          </a:stretch>
        </p:blipFill>
        <p:spPr>
          <a:xfrm>
            <a:off x="838200" y="152400"/>
            <a:ext cx="7239000" cy="3124200"/>
          </a:xfrm>
          <a:prstGeom prst="rect">
            <a:avLst/>
          </a:prstGeom>
          <a:noFill/>
          <a:ln>
            <a:noFill/>
          </a:ln>
        </p:spPr>
      </p:pic>
      <p:pic>
        <p:nvPicPr>
          <p:cNvPr id="6" name="Google Shape;177;g2e24d02a381_0_100">
            <a:extLst>
              <a:ext uri="{FF2B5EF4-FFF2-40B4-BE49-F238E27FC236}">
                <a16:creationId xmlns:a16="http://schemas.microsoft.com/office/drawing/2014/main" id="{98E3BC98-46D7-FFDC-2741-CB1DDB3F649A}"/>
              </a:ext>
            </a:extLst>
          </p:cNvPr>
          <p:cNvPicPr preferRelativeResize="0"/>
          <p:nvPr/>
        </p:nvPicPr>
        <p:blipFill>
          <a:blip r:embed="rId3">
            <a:alphaModFix/>
          </a:blip>
          <a:stretch>
            <a:fillRect/>
          </a:stretch>
        </p:blipFill>
        <p:spPr>
          <a:xfrm>
            <a:off x="838200" y="3352800"/>
            <a:ext cx="7239000" cy="3429000"/>
          </a:xfrm>
          <a:prstGeom prst="rect">
            <a:avLst/>
          </a:prstGeom>
          <a:noFill/>
          <a:ln>
            <a:noFill/>
          </a:ln>
        </p:spPr>
      </p:pic>
    </p:spTree>
    <p:extLst>
      <p:ext uri="{BB962C8B-B14F-4D97-AF65-F5344CB8AC3E}">
        <p14:creationId xmlns:p14="http://schemas.microsoft.com/office/powerpoint/2010/main" val="1476026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A654805-7375-034B-F080-C65466708D5F}"/>
              </a:ext>
            </a:extLst>
          </p:cNvPr>
          <p:cNvSpPr>
            <a:spLocks noGrp="1"/>
          </p:cNvSpPr>
          <p:nvPr>
            <p:ph type="sldNum" sz="quarter" idx="12"/>
          </p:nvPr>
        </p:nvSpPr>
        <p:spPr/>
        <p:txBody>
          <a:bodyPr/>
          <a:lstStyle/>
          <a:p>
            <a:fld id="{6979DFC9-49C2-472C-8164-27EAFCE086AB}" type="slidenum">
              <a:rPr lang="en-US" smtClean="0"/>
              <a:t>15</a:t>
            </a:fld>
            <a:endParaRPr lang="en-US"/>
          </a:p>
        </p:txBody>
      </p:sp>
      <p:pic>
        <p:nvPicPr>
          <p:cNvPr id="5" name="Google Shape;185;g349963dbcb1_0_16">
            <a:extLst>
              <a:ext uri="{FF2B5EF4-FFF2-40B4-BE49-F238E27FC236}">
                <a16:creationId xmlns:a16="http://schemas.microsoft.com/office/drawing/2014/main" id="{5C351D9D-74F3-183D-F45C-0418C90372D4}"/>
              </a:ext>
            </a:extLst>
          </p:cNvPr>
          <p:cNvPicPr preferRelativeResize="0"/>
          <p:nvPr/>
        </p:nvPicPr>
        <p:blipFill>
          <a:blip r:embed="rId2">
            <a:alphaModFix/>
          </a:blip>
          <a:stretch>
            <a:fillRect/>
          </a:stretch>
        </p:blipFill>
        <p:spPr>
          <a:xfrm>
            <a:off x="762000" y="107770"/>
            <a:ext cx="7277100" cy="3016430"/>
          </a:xfrm>
          <a:prstGeom prst="rect">
            <a:avLst/>
          </a:prstGeom>
          <a:noFill/>
          <a:ln>
            <a:noFill/>
          </a:ln>
        </p:spPr>
      </p:pic>
      <p:pic>
        <p:nvPicPr>
          <p:cNvPr id="6" name="Google Shape;193;g349963dbcb1_0_23">
            <a:extLst>
              <a:ext uri="{FF2B5EF4-FFF2-40B4-BE49-F238E27FC236}">
                <a16:creationId xmlns:a16="http://schemas.microsoft.com/office/drawing/2014/main" id="{5EF7F6AB-EC53-890B-9CD3-CDFB47DCB485}"/>
              </a:ext>
            </a:extLst>
          </p:cNvPr>
          <p:cNvPicPr preferRelativeResize="0">
            <a:picLocks noGrp="1"/>
          </p:cNvPicPr>
          <p:nvPr>
            <p:ph idx="1"/>
          </p:nvPr>
        </p:nvPicPr>
        <p:blipFill>
          <a:blip r:embed="rId3">
            <a:alphaModFix/>
          </a:blip>
          <a:stretch>
            <a:fillRect/>
          </a:stretch>
        </p:blipFill>
        <p:spPr>
          <a:xfrm>
            <a:off x="762000" y="3344833"/>
            <a:ext cx="7277100" cy="3322667"/>
          </a:xfrm>
          <a:prstGeom prst="rect">
            <a:avLst/>
          </a:prstGeom>
          <a:noFill/>
          <a:ln>
            <a:noFill/>
          </a:ln>
        </p:spPr>
      </p:pic>
    </p:spTree>
    <p:extLst>
      <p:ext uri="{BB962C8B-B14F-4D97-AF65-F5344CB8AC3E}">
        <p14:creationId xmlns:p14="http://schemas.microsoft.com/office/powerpoint/2010/main" val="54075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367DC3-9C56-9590-2EB2-C8064CE05BC6}"/>
              </a:ext>
            </a:extLst>
          </p:cNvPr>
          <p:cNvSpPr>
            <a:spLocks noGrp="1"/>
          </p:cNvSpPr>
          <p:nvPr>
            <p:ph type="sldNum" sz="quarter" idx="12"/>
          </p:nvPr>
        </p:nvSpPr>
        <p:spPr/>
        <p:txBody>
          <a:bodyPr/>
          <a:lstStyle/>
          <a:p>
            <a:fld id="{6979DFC9-49C2-472C-8164-27EAFCE086AB}" type="slidenum">
              <a:rPr lang="en-US" smtClean="0"/>
              <a:t>16</a:t>
            </a:fld>
            <a:endParaRPr lang="en-US"/>
          </a:p>
        </p:txBody>
      </p:sp>
      <p:pic>
        <p:nvPicPr>
          <p:cNvPr id="5" name="Google Shape;201;g349963dbcb1_0_30">
            <a:extLst>
              <a:ext uri="{FF2B5EF4-FFF2-40B4-BE49-F238E27FC236}">
                <a16:creationId xmlns:a16="http://schemas.microsoft.com/office/drawing/2014/main" id="{26CFD476-08E9-DE7B-7F08-56B943E0B776}"/>
              </a:ext>
            </a:extLst>
          </p:cNvPr>
          <p:cNvPicPr preferRelativeResize="0"/>
          <p:nvPr/>
        </p:nvPicPr>
        <p:blipFill>
          <a:blip r:embed="rId2">
            <a:alphaModFix/>
          </a:blip>
          <a:stretch>
            <a:fillRect/>
          </a:stretch>
        </p:blipFill>
        <p:spPr>
          <a:xfrm>
            <a:off x="685800" y="25880"/>
            <a:ext cx="7391401" cy="3253864"/>
          </a:xfrm>
          <a:prstGeom prst="rect">
            <a:avLst/>
          </a:prstGeom>
          <a:noFill/>
          <a:ln>
            <a:noFill/>
          </a:ln>
        </p:spPr>
      </p:pic>
      <p:pic>
        <p:nvPicPr>
          <p:cNvPr id="6" name="Google Shape;209;g349963dbcb1_0_41">
            <a:extLst>
              <a:ext uri="{FF2B5EF4-FFF2-40B4-BE49-F238E27FC236}">
                <a16:creationId xmlns:a16="http://schemas.microsoft.com/office/drawing/2014/main" id="{73C4DA88-FF69-3771-789A-FD75CF8D4345}"/>
              </a:ext>
            </a:extLst>
          </p:cNvPr>
          <p:cNvPicPr preferRelativeResize="0">
            <a:picLocks noGrp="1"/>
          </p:cNvPicPr>
          <p:nvPr>
            <p:ph idx="1"/>
          </p:nvPr>
        </p:nvPicPr>
        <p:blipFill>
          <a:blip r:embed="rId3">
            <a:alphaModFix/>
          </a:blip>
          <a:stretch>
            <a:fillRect/>
          </a:stretch>
        </p:blipFill>
        <p:spPr>
          <a:xfrm>
            <a:off x="685801" y="3551543"/>
            <a:ext cx="7391400" cy="3253864"/>
          </a:xfrm>
          <a:prstGeom prst="rect">
            <a:avLst/>
          </a:prstGeom>
          <a:noFill/>
          <a:ln>
            <a:noFill/>
          </a:ln>
        </p:spPr>
      </p:pic>
    </p:spTree>
    <p:extLst>
      <p:ext uri="{BB962C8B-B14F-4D97-AF65-F5344CB8AC3E}">
        <p14:creationId xmlns:p14="http://schemas.microsoft.com/office/powerpoint/2010/main" val="20743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b="1" dirty="0">
                <a:solidFill>
                  <a:schemeClr val="tx1">
                    <a:lumMod val="95000"/>
                    <a:lumOff val="5000"/>
                  </a:schemeClr>
                </a:solidFill>
                <a:latin typeface="Bookman Old Style" panose="02050604050505020204" pitchFamily="18" charset="0"/>
              </a:rPr>
              <a:t>ADVANTAGES:</a:t>
            </a:r>
          </a:p>
        </p:txBody>
      </p:sp>
      <p:sp>
        <p:nvSpPr>
          <p:cNvPr id="3" name="Content Placeholder 2"/>
          <p:cNvSpPr>
            <a:spLocks noGrp="1"/>
          </p:cNvSpPr>
          <p:nvPr>
            <p:ph idx="1"/>
          </p:nvPr>
        </p:nvSpPr>
        <p:spPr/>
        <p:txBody>
          <a:bodyPr>
            <a:normAutofit/>
          </a:bodyPr>
          <a:lstStyle/>
          <a:p>
            <a:pPr>
              <a:lnSpc>
                <a:spcPct val="150000"/>
              </a:lnSpc>
              <a:spcAft>
                <a:spcPts val="1000"/>
              </a:spcAft>
              <a:buClr>
                <a:schemeClr val="tx1">
                  <a:lumMod val="95000"/>
                  <a:lumOff val="5000"/>
                </a:schemeClr>
              </a:buClr>
              <a:buFont typeface="Wingdings" panose="05000000000000000000" charset="0"/>
              <a:buChar char="Ø"/>
            </a:pPr>
            <a:r>
              <a:rPr lang="en-US" sz="1800" b="0" i="0" dirty="0">
                <a:solidFill>
                  <a:srgbClr val="474747"/>
                </a:solidFill>
                <a:effectLst/>
                <a:latin typeface="Bookman Old Style" panose="02050604050505020204" pitchFamily="18" charset="0"/>
              </a:rPr>
              <a:t>The goal of brain tumor segmentation is to </a:t>
            </a:r>
            <a:r>
              <a:rPr lang="en-US" sz="1800" b="0" i="0" dirty="0">
                <a:solidFill>
                  <a:srgbClr val="040C28"/>
                </a:solidFill>
                <a:effectLst/>
                <a:latin typeface="Bookman Old Style" panose="02050604050505020204" pitchFamily="18" charset="0"/>
              </a:rPr>
              <a:t>generate accurate delineation of brain tumor regions with correctly located masks</a:t>
            </a:r>
            <a:r>
              <a:rPr lang="en-US" sz="1800" b="0" i="0" dirty="0">
                <a:solidFill>
                  <a:srgbClr val="474747"/>
                </a:solidFill>
                <a:effectLst/>
                <a:latin typeface="Bookman Old Style" panose="02050604050505020204" pitchFamily="18" charset="0"/>
              </a:rPr>
              <a:t>.</a:t>
            </a:r>
          </a:p>
          <a:p>
            <a:pPr>
              <a:lnSpc>
                <a:spcPct val="150000"/>
              </a:lnSpc>
              <a:spcAft>
                <a:spcPts val="1000"/>
              </a:spcAft>
              <a:buClr>
                <a:schemeClr val="tx1">
                  <a:lumMod val="95000"/>
                  <a:lumOff val="5000"/>
                </a:schemeClr>
              </a:buClr>
              <a:buFont typeface="Wingdings" panose="05000000000000000000" charset="0"/>
              <a:buChar char="Ø"/>
            </a:pPr>
            <a:r>
              <a:rPr lang="en-US" sz="1800" dirty="0">
                <a:effectLst/>
                <a:latin typeface="Bookman Old Style" panose="02050604050505020204" pitchFamily="18" charset="0"/>
                <a:ea typeface="Calibri" panose="020F0502020204030204" pitchFamily="34" charset="0"/>
                <a:cs typeface="Times New Roman" panose="02020603050405020304" pitchFamily="18" charset="0"/>
              </a:rPr>
              <a:t>Brain tumor detection at early stages can increase the chances of the patient's recovery after treatment.</a:t>
            </a:r>
          </a:p>
          <a:p>
            <a:pPr>
              <a:lnSpc>
                <a:spcPct val="150000"/>
              </a:lnSpc>
              <a:spcAft>
                <a:spcPts val="1000"/>
              </a:spcAft>
              <a:buClr>
                <a:schemeClr val="tx1">
                  <a:lumMod val="95000"/>
                  <a:lumOff val="5000"/>
                </a:schemeClr>
              </a:buClr>
              <a:buFont typeface="Wingdings" panose="05000000000000000000" charset="0"/>
              <a:buChar char="Ø"/>
            </a:pPr>
            <a:r>
              <a:rPr lang="en-US" sz="1800" dirty="0">
                <a:effectLst/>
                <a:latin typeface="Bookman Old Style" panose="02050604050505020204" pitchFamily="18" charset="0"/>
                <a:ea typeface="Calibri" panose="020F0502020204030204" pitchFamily="34" charset="0"/>
                <a:cs typeface="Times New Roman" panose="02020603050405020304" pitchFamily="18" charset="0"/>
              </a:rPr>
              <a:t>Brain tumor detection may help evaluate head injuries, strokes, Alzheimer's disease, and brain cancer.</a:t>
            </a:r>
          </a:p>
          <a:p>
            <a:pPr>
              <a:lnSpc>
                <a:spcPct val="150000"/>
              </a:lnSpc>
              <a:spcAft>
                <a:spcPts val="1000"/>
              </a:spcAft>
              <a:buClr>
                <a:schemeClr val="tx1">
                  <a:lumMod val="95000"/>
                  <a:lumOff val="5000"/>
                </a:schemeClr>
              </a:buClr>
              <a:buFont typeface="Wingdings" panose="05000000000000000000" charset="0"/>
              <a:buChar char="Ø"/>
            </a:pPr>
            <a:r>
              <a:rPr lang="en-US" sz="1800" dirty="0">
                <a:effectLst/>
                <a:latin typeface="Bookman Old Style" panose="02050604050505020204" pitchFamily="18" charset="0"/>
                <a:ea typeface="Calibri" panose="020F0502020204030204" pitchFamily="34" charset="0"/>
                <a:cs typeface="Times New Roman" panose="02020603050405020304" pitchFamily="18" charset="0"/>
              </a:rPr>
              <a:t>Timely diagnosis allows for a wider range of treatment options, including less surgeries and targeted therapies.</a:t>
            </a:r>
          </a:p>
          <a:p>
            <a:pPr>
              <a:lnSpc>
                <a:spcPct val="150000"/>
              </a:lnSpc>
              <a:spcAft>
                <a:spcPts val="1000"/>
              </a:spcAft>
              <a:buClr>
                <a:schemeClr val="tx1">
                  <a:lumMod val="95000"/>
                  <a:lumOff val="5000"/>
                </a:schemeClr>
              </a:buClr>
              <a:buFont typeface="Wingdings" panose="05000000000000000000" charset="0"/>
              <a:buChar char="Ø"/>
            </a:pPr>
            <a:endParaRPr lang="en-IN" sz="1800" dirty="0">
              <a:effectLst/>
              <a:latin typeface="Bookman Old Style" panose="02050604050505020204" pitchFamily="18"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979DFC9-49C2-472C-8164-27EAFCE086AB}"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b="1" dirty="0">
                <a:solidFill>
                  <a:schemeClr val="tx1">
                    <a:lumMod val="95000"/>
                    <a:lumOff val="5000"/>
                  </a:schemeClr>
                </a:solidFill>
                <a:latin typeface="Bookman Old Style" panose="02050604050505020204" pitchFamily="18" charset="0"/>
              </a:rPr>
              <a:t>APPLICATIONS:</a:t>
            </a:r>
          </a:p>
        </p:txBody>
      </p:sp>
      <p:sp>
        <p:nvSpPr>
          <p:cNvPr id="3" name="Content Placeholder 2"/>
          <p:cNvSpPr>
            <a:spLocks noGrp="1"/>
          </p:cNvSpPr>
          <p:nvPr>
            <p:ph idx="1"/>
          </p:nvPr>
        </p:nvSpPr>
        <p:spPr/>
        <p:txBody>
          <a:bodyPr>
            <a:normAutofit fontScale="85000" lnSpcReduction="20000"/>
          </a:bodyPr>
          <a:lstStyle/>
          <a:p>
            <a:pPr algn="just">
              <a:lnSpc>
                <a:spcPct val="150000"/>
              </a:lnSpc>
              <a:spcAft>
                <a:spcPts val="1400"/>
              </a:spcAft>
              <a:buClr>
                <a:schemeClr val="tx1">
                  <a:lumMod val="95000"/>
                  <a:lumOff val="5000"/>
                </a:schemeClr>
              </a:buClr>
            </a:pPr>
            <a:r>
              <a:rPr lang="en-IN" sz="1900" dirty="0">
                <a:latin typeface="Bookman Old Style" panose="02050604050505020204" pitchFamily="18" charset="0"/>
              </a:rPr>
              <a:t>Medical Applications:  </a:t>
            </a:r>
          </a:p>
          <a:p>
            <a:pPr algn="just">
              <a:lnSpc>
                <a:spcPct val="150000"/>
              </a:lnSpc>
              <a:spcAft>
                <a:spcPts val="1400"/>
              </a:spcAft>
              <a:buClr>
                <a:schemeClr val="tx1">
                  <a:lumMod val="95000"/>
                  <a:lumOff val="5000"/>
                </a:schemeClr>
              </a:buClr>
            </a:pPr>
            <a:r>
              <a:rPr lang="en-IN" sz="1900" dirty="0">
                <a:latin typeface="Bookman Old Style" panose="02050604050505020204" pitchFamily="18" charset="0"/>
              </a:rPr>
              <a:t>Research Applications</a:t>
            </a:r>
          </a:p>
          <a:p>
            <a:pPr algn="just">
              <a:lnSpc>
                <a:spcPct val="150000"/>
              </a:lnSpc>
              <a:spcAft>
                <a:spcPts val="1400"/>
              </a:spcAft>
              <a:buClr>
                <a:schemeClr val="tx1">
                  <a:lumMod val="95000"/>
                  <a:lumOff val="5000"/>
                </a:schemeClr>
              </a:buClr>
            </a:pPr>
            <a:r>
              <a:rPr lang="en-IN" sz="1900" dirty="0">
                <a:latin typeface="Bookman Old Style" panose="02050604050505020204" pitchFamily="18" charset="0"/>
              </a:rPr>
              <a:t>Clinical Applications</a:t>
            </a:r>
          </a:p>
          <a:p>
            <a:pPr algn="just">
              <a:lnSpc>
                <a:spcPct val="150000"/>
              </a:lnSpc>
              <a:spcAft>
                <a:spcPts val="1400"/>
              </a:spcAft>
              <a:buClr>
                <a:schemeClr val="tx1">
                  <a:lumMod val="95000"/>
                  <a:lumOff val="5000"/>
                </a:schemeClr>
              </a:buClr>
              <a:buFont typeface="Wingdings" panose="05000000000000000000" pitchFamily="2" charset="2"/>
              <a:buChar char="q"/>
            </a:pPr>
            <a:r>
              <a:rPr lang="en-US" sz="1900" b="1" dirty="0">
                <a:latin typeface="Bookman Old Style" panose="02050604050505020204" pitchFamily="18" charset="0"/>
              </a:rPr>
              <a:t>Some of the most common methods for detecting brain tumors include:</a:t>
            </a:r>
          </a:p>
          <a:p>
            <a:pPr algn="just">
              <a:lnSpc>
                <a:spcPct val="150000"/>
              </a:lnSpc>
              <a:spcAft>
                <a:spcPts val="1400"/>
              </a:spcAft>
              <a:buClr>
                <a:schemeClr val="tx1">
                  <a:lumMod val="95000"/>
                  <a:lumOff val="5000"/>
                </a:schemeClr>
              </a:buClr>
              <a:buFont typeface="Wingdings" panose="05000000000000000000" pitchFamily="2" charset="2"/>
              <a:buChar char="v"/>
            </a:pPr>
            <a:r>
              <a:rPr lang="en-US" sz="1900" dirty="0">
                <a:latin typeface="Bookman Old Style" panose="02050604050505020204" pitchFamily="18" charset="0"/>
              </a:rPr>
              <a:t>1. Magnetic Resonance Imaging (MRI)</a:t>
            </a:r>
          </a:p>
          <a:p>
            <a:pPr algn="just">
              <a:lnSpc>
                <a:spcPct val="150000"/>
              </a:lnSpc>
              <a:spcAft>
                <a:spcPts val="1400"/>
              </a:spcAft>
              <a:buClr>
                <a:schemeClr val="tx1">
                  <a:lumMod val="95000"/>
                  <a:lumOff val="5000"/>
                </a:schemeClr>
              </a:buClr>
              <a:buFont typeface="Wingdings" panose="05000000000000000000" pitchFamily="2" charset="2"/>
              <a:buChar char="v"/>
            </a:pPr>
            <a:r>
              <a:rPr lang="en-US" sz="1900" dirty="0">
                <a:latin typeface="Bookman Old Style" panose="02050604050505020204" pitchFamily="18" charset="0"/>
              </a:rPr>
              <a:t>2. Computed Tomography (CT) scans</a:t>
            </a:r>
          </a:p>
          <a:p>
            <a:pPr algn="just">
              <a:lnSpc>
                <a:spcPct val="150000"/>
              </a:lnSpc>
              <a:spcAft>
                <a:spcPts val="1400"/>
              </a:spcAft>
              <a:buClr>
                <a:schemeClr val="tx1">
                  <a:lumMod val="95000"/>
                  <a:lumOff val="5000"/>
                </a:schemeClr>
              </a:buClr>
              <a:buFont typeface="Wingdings" panose="05000000000000000000" pitchFamily="2" charset="2"/>
              <a:buChar char="v"/>
            </a:pPr>
            <a:r>
              <a:rPr lang="en-US" sz="1900" dirty="0">
                <a:latin typeface="Bookman Old Style" panose="02050604050505020204" pitchFamily="18" charset="0"/>
              </a:rPr>
              <a:t>3. Positron Emission Tomography (PET) scans</a:t>
            </a:r>
          </a:p>
          <a:p>
            <a:pPr algn="just">
              <a:lnSpc>
                <a:spcPct val="150000"/>
              </a:lnSpc>
              <a:spcAft>
                <a:spcPts val="1400"/>
              </a:spcAft>
              <a:buClr>
                <a:schemeClr val="tx1">
                  <a:lumMod val="95000"/>
                  <a:lumOff val="5000"/>
                </a:schemeClr>
              </a:buClr>
              <a:buFont typeface="Wingdings" panose="05000000000000000000" pitchFamily="2" charset="2"/>
              <a:buChar char="v"/>
            </a:pPr>
            <a:r>
              <a:rPr lang="en-US" sz="1900" dirty="0">
                <a:latin typeface="Bookman Old Style" panose="02050604050505020204" pitchFamily="18" charset="0"/>
              </a:rPr>
              <a:t>4. Angiography</a:t>
            </a:r>
          </a:p>
          <a:p>
            <a:pPr algn="just">
              <a:lnSpc>
                <a:spcPct val="150000"/>
              </a:lnSpc>
              <a:spcAft>
                <a:spcPts val="1400"/>
              </a:spcAft>
              <a:buClr>
                <a:schemeClr val="tx1">
                  <a:lumMod val="95000"/>
                  <a:lumOff val="5000"/>
                </a:schemeClr>
              </a:buClr>
              <a:buFont typeface="Wingdings" panose="05000000000000000000" pitchFamily="2" charset="2"/>
              <a:buChar char="v"/>
            </a:pPr>
            <a:r>
              <a:rPr lang="en-US" sz="1900" dirty="0">
                <a:latin typeface="Bookman Old Style" panose="02050604050505020204" pitchFamily="18" charset="0"/>
              </a:rPr>
              <a:t>5. Biopsy</a:t>
            </a:r>
            <a:endParaRPr lang="en-IN" sz="1900" dirty="0">
              <a:latin typeface="Bookman Old Style" panose="02050604050505020204" pitchFamily="18" charset="0"/>
            </a:endParaRPr>
          </a:p>
          <a:p>
            <a:pPr algn="just">
              <a:lnSpc>
                <a:spcPct val="150000"/>
              </a:lnSpc>
              <a:spcAft>
                <a:spcPts val="1400"/>
              </a:spcAft>
              <a:buClr>
                <a:schemeClr val="tx1">
                  <a:lumMod val="95000"/>
                  <a:lumOff val="5000"/>
                </a:schemeClr>
              </a:buClr>
            </a:pPr>
            <a:endParaRPr lang="en-US" sz="1900" dirty="0">
              <a:effectLst/>
              <a:latin typeface="Bookman Old Style" panose="02050604050505020204" pitchFamily="18"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979DFC9-49C2-472C-8164-27EAFCE086AB}"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b="1" dirty="0">
                <a:solidFill>
                  <a:schemeClr val="tx1">
                    <a:lumMod val="95000"/>
                    <a:lumOff val="5000"/>
                  </a:schemeClr>
                </a:solidFill>
                <a:latin typeface="Bookman Old Style" panose="02050604050505020204" pitchFamily="18" charset="0"/>
              </a:rPr>
              <a:t>CONCLUSION:</a:t>
            </a:r>
          </a:p>
        </p:txBody>
      </p:sp>
      <p:sp>
        <p:nvSpPr>
          <p:cNvPr id="3" name="Content Placeholder 2"/>
          <p:cNvSpPr>
            <a:spLocks noGrp="1"/>
          </p:cNvSpPr>
          <p:nvPr>
            <p:ph idx="1"/>
          </p:nvPr>
        </p:nvSpPr>
        <p:spPr>
          <a:xfrm>
            <a:off x="381000" y="952500"/>
            <a:ext cx="8229600" cy="4953000"/>
          </a:xfrm>
        </p:spPr>
        <p:txBody>
          <a:bodyPr>
            <a:normAutofit fontScale="75000" lnSpcReduction="20000"/>
          </a:bodyPr>
          <a:lstStyle/>
          <a:p>
            <a:pPr algn="just">
              <a:lnSpc>
                <a:spcPct val="200000"/>
              </a:lnSpc>
              <a:buClr>
                <a:schemeClr val="tx1">
                  <a:lumMod val="95000"/>
                  <a:lumOff val="5000"/>
                </a:schemeClr>
              </a:buClr>
              <a:buFont typeface="Wingdings" panose="05000000000000000000" charset="0"/>
              <a:buChar char="Ø"/>
            </a:pPr>
            <a:r>
              <a:rPr lang="en-US" sz="2400" dirty="0">
                <a:latin typeface="Bookman Old Style" panose="02050604050505020204" pitchFamily="18" charset="0"/>
              </a:rPr>
              <a:t>In this study, segmentation and detection of brain tumor have been done using deep neural networks. In the present study, the MRI image dataset is used to train the neural network.</a:t>
            </a:r>
          </a:p>
          <a:p>
            <a:pPr algn="just">
              <a:lnSpc>
                <a:spcPct val="200000"/>
              </a:lnSpc>
              <a:buClr>
                <a:schemeClr val="tx1">
                  <a:lumMod val="95000"/>
                  <a:lumOff val="5000"/>
                </a:schemeClr>
              </a:buClr>
              <a:buFont typeface="Wingdings" panose="05000000000000000000" charset="0"/>
              <a:buChar char="Ø"/>
            </a:pPr>
            <a:r>
              <a:rPr lang="en-US" sz="2400" dirty="0">
                <a:latin typeface="Bookman Old Style" panose="02050604050505020204" pitchFamily="18" charset="0"/>
              </a:rPr>
              <a:t>Secondly, the CNN model is implemented in particular for the three most popular kinds of brain tumor, i.e., glioma, meningioma, and pituitary.</a:t>
            </a:r>
          </a:p>
          <a:p>
            <a:pPr algn="just">
              <a:lnSpc>
                <a:spcPct val="200000"/>
              </a:lnSpc>
              <a:buClr>
                <a:schemeClr val="tx1">
                  <a:lumMod val="95000"/>
                  <a:lumOff val="5000"/>
                </a:schemeClr>
              </a:buClr>
              <a:buFont typeface="Wingdings" panose="05000000000000000000" charset="0"/>
              <a:buChar char="Ø"/>
            </a:pPr>
            <a:r>
              <a:rPr lang="en-US" sz="2400" dirty="0">
                <a:latin typeface="Bookman Old Style" panose="02050604050505020204" pitchFamily="18" charset="0"/>
              </a:rPr>
              <a:t>The results obtained establish the efficiency of the proposed work when compared to the models already proposed in the literature.</a:t>
            </a:r>
          </a:p>
          <a:p>
            <a:pPr algn="just">
              <a:lnSpc>
                <a:spcPct val="200000"/>
              </a:lnSpc>
              <a:buClr>
                <a:schemeClr val="tx1">
                  <a:lumMod val="95000"/>
                  <a:lumOff val="5000"/>
                </a:schemeClr>
              </a:buClr>
              <a:buFont typeface="Wingdings" panose="05000000000000000000" charset="0"/>
              <a:buChar char="Ø"/>
            </a:pPr>
            <a:endParaRPr lang="en-US" sz="2400" dirty="0">
              <a:latin typeface="Bookman Old Style" panose="02050604050505020204" pitchFamily="18" charset="0"/>
            </a:endParaRPr>
          </a:p>
          <a:p>
            <a:pPr algn="just">
              <a:lnSpc>
                <a:spcPct val="200000"/>
              </a:lnSpc>
              <a:buClr>
                <a:schemeClr val="tx1">
                  <a:lumMod val="95000"/>
                  <a:lumOff val="5000"/>
                </a:schemeClr>
              </a:buClr>
              <a:buFont typeface="Wingdings" panose="05000000000000000000" charset="0"/>
              <a:buChar char="Ø"/>
            </a:pPr>
            <a:endParaRPr lang="en-IN" sz="2400" dirty="0">
              <a:latin typeface="Bookman Old Style" panose="020506040505050202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6525"/>
            <a:ext cx="8229600" cy="582613"/>
          </a:xfrm>
        </p:spPr>
        <p:txBody>
          <a:bodyPr/>
          <a:lstStyle/>
          <a:p>
            <a:r>
              <a:rPr lang="en-IN" sz="3200" b="1" dirty="0">
                <a:solidFill>
                  <a:schemeClr val="tx1">
                    <a:lumMod val="95000"/>
                    <a:lumOff val="5000"/>
                  </a:schemeClr>
                </a:solidFill>
                <a:latin typeface="Bookman Old Style" panose="02050604050505020204" pitchFamily="18" charset="0"/>
              </a:rPr>
              <a:t>FUTURE SCOPE:</a:t>
            </a:r>
          </a:p>
        </p:txBody>
      </p:sp>
      <p:sp>
        <p:nvSpPr>
          <p:cNvPr id="3" name="Content Placeholder 2"/>
          <p:cNvSpPr>
            <a:spLocks noGrp="1"/>
          </p:cNvSpPr>
          <p:nvPr>
            <p:ph idx="1"/>
          </p:nvPr>
        </p:nvSpPr>
        <p:spPr>
          <a:xfrm>
            <a:off x="76200" y="780985"/>
            <a:ext cx="8382000" cy="5943600"/>
          </a:xfrm>
        </p:spPr>
        <p:txBody>
          <a:bodyPr/>
          <a:lstStyle/>
          <a:p>
            <a:pPr algn="just">
              <a:lnSpc>
                <a:spcPct val="150000"/>
              </a:lnSpc>
              <a:buClr>
                <a:schemeClr val="tx1">
                  <a:lumMod val="95000"/>
                  <a:lumOff val="5000"/>
                </a:schemeClr>
              </a:buClr>
              <a:buFont typeface="Wingdings" panose="05000000000000000000" charset="0"/>
              <a:buChar char="Ø"/>
            </a:pPr>
            <a:r>
              <a:rPr lang="en-US" sz="1800" dirty="0">
                <a:latin typeface="Bookman Old Style" panose="02050604050505020204" pitchFamily="18" charset="0"/>
              </a:rPr>
              <a:t>The future of brain tumor detection holds immense promise, with advancements in imaging, AI, and personalized medicine leading the way.</a:t>
            </a:r>
          </a:p>
          <a:p>
            <a:pPr algn="just">
              <a:lnSpc>
                <a:spcPct val="150000"/>
              </a:lnSpc>
              <a:buClr>
                <a:schemeClr val="tx1">
                  <a:lumMod val="95000"/>
                  <a:lumOff val="5000"/>
                </a:schemeClr>
              </a:buClr>
              <a:buFont typeface="Wingdings" panose="05000000000000000000" charset="0"/>
              <a:buChar char="Ø"/>
            </a:pPr>
            <a:r>
              <a:rPr lang="en-IN" sz="1800" dirty="0">
                <a:latin typeface="Bookman Old Style" panose="02050604050505020204" pitchFamily="18" charset="0"/>
              </a:rPr>
              <a:t> Improved Imaging Techniques: Enhanced MRI, CT, and PET scans.</a:t>
            </a:r>
          </a:p>
          <a:p>
            <a:pPr algn="just">
              <a:lnSpc>
                <a:spcPct val="150000"/>
              </a:lnSpc>
              <a:buClr>
                <a:schemeClr val="tx1">
                  <a:lumMod val="95000"/>
                  <a:lumOff val="5000"/>
                </a:schemeClr>
              </a:buClr>
              <a:buFont typeface="Wingdings" panose="05000000000000000000" charset="0"/>
              <a:buChar char="Ø"/>
            </a:pPr>
            <a:r>
              <a:rPr lang="en-IN" sz="1800" dirty="0">
                <a:latin typeface="Bookman Old Style" panose="02050604050505020204" pitchFamily="18" charset="0"/>
              </a:rPr>
              <a:t> Artificial Intelligence (AI) Integration: Automated </a:t>
            </a:r>
            <a:r>
              <a:rPr lang="en-IN" sz="1800" dirty="0" err="1">
                <a:latin typeface="Bookman Old Style" panose="02050604050505020204" pitchFamily="18" charset="0"/>
              </a:rPr>
              <a:t>tumor</a:t>
            </a:r>
            <a:r>
              <a:rPr lang="en-IN" sz="1800" dirty="0">
                <a:latin typeface="Bookman Old Style" panose="02050604050505020204" pitchFamily="18" charset="0"/>
              </a:rPr>
              <a:t> detection and segmentation. </a:t>
            </a:r>
          </a:p>
          <a:p>
            <a:pPr algn="just">
              <a:lnSpc>
                <a:spcPct val="150000"/>
              </a:lnSpc>
              <a:buClr>
                <a:schemeClr val="tx1">
                  <a:lumMod val="95000"/>
                  <a:lumOff val="5000"/>
                </a:schemeClr>
              </a:buClr>
              <a:buFont typeface="Wingdings" panose="05000000000000000000" charset="0"/>
              <a:buChar char="Ø"/>
            </a:pPr>
            <a:r>
              <a:rPr lang="en-IN" sz="1800" dirty="0">
                <a:latin typeface="Bookman Old Style" panose="02050604050505020204" pitchFamily="18" charset="0"/>
              </a:rPr>
              <a:t>Point-of-Care Devices: Portable, bedside brain </a:t>
            </a:r>
            <a:r>
              <a:rPr lang="en-IN" sz="1800" dirty="0" err="1">
                <a:latin typeface="Bookman Old Style" panose="02050604050505020204" pitchFamily="18" charset="0"/>
              </a:rPr>
              <a:t>tumor</a:t>
            </a:r>
            <a:r>
              <a:rPr lang="en-IN" sz="1800" dirty="0">
                <a:latin typeface="Bookman Old Style" panose="02050604050505020204" pitchFamily="18" charset="0"/>
              </a:rPr>
              <a:t> detection.</a:t>
            </a:r>
          </a:p>
          <a:p>
            <a:pPr algn="just">
              <a:lnSpc>
                <a:spcPct val="150000"/>
              </a:lnSpc>
              <a:buClr>
                <a:schemeClr val="tx1">
                  <a:lumMod val="95000"/>
                  <a:lumOff val="5000"/>
                </a:schemeClr>
              </a:buClr>
              <a:buFont typeface="Wingdings" panose="05000000000000000000" charset="0"/>
              <a:buChar char="Ø"/>
            </a:pPr>
            <a:r>
              <a:rPr lang="en-IN" sz="1800" dirty="0">
                <a:latin typeface="Bookman Old Style" panose="02050604050505020204" pitchFamily="18" charset="0"/>
              </a:rPr>
              <a:t> Personalized Medicine: Genomic-based treatment planning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124"/>
            <a:ext cx="8229600" cy="763076"/>
          </a:xfrm>
        </p:spPr>
        <p:txBody>
          <a:bodyPr>
            <a:normAutofit/>
          </a:bodyPr>
          <a:lstStyle/>
          <a:p>
            <a:r>
              <a:rPr lang="en-IN" sz="2800" b="1" dirty="0">
                <a:solidFill>
                  <a:schemeClr val="tx1">
                    <a:lumMod val="95000"/>
                    <a:lumOff val="5000"/>
                  </a:schemeClr>
                </a:solidFill>
                <a:latin typeface="Bookman Old Style" panose="02050604050505020204" pitchFamily="18" charset="0"/>
              </a:rPr>
              <a:t>REFERENCES:</a:t>
            </a:r>
          </a:p>
        </p:txBody>
      </p:sp>
      <p:sp>
        <p:nvSpPr>
          <p:cNvPr id="3" name="Content Placeholder 2"/>
          <p:cNvSpPr>
            <a:spLocks noGrp="1"/>
          </p:cNvSpPr>
          <p:nvPr>
            <p:ph idx="1"/>
          </p:nvPr>
        </p:nvSpPr>
        <p:spPr>
          <a:xfrm>
            <a:off x="461865" y="668862"/>
            <a:ext cx="8229600" cy="6114014"/>
          </a:xfrm>
        </p:spPr>
        <p:txBody>
          <a:bodyPr>
            <a:noAutofit/>
          </a:bodyPr>
          <a:lstStyle/>
          <a:p>
            <a:pPr marL="0" indent="0" algn="just">
              <a:lnSpc>
                <a:spcPct val="150000"/>
              </a:lnSpc>
              <a:spcAft>
                <a:spcPts val="800"/>
              </a:spcAft>
              <a:buNone/>
            </a:pPr>
            <a:r>
              <a:rPr lang="en-US" sz="1100" dirty="0">
                <a:effectLst/>
                <a:latin typeface="Bookman Old Style" panose="02050604050505020204" pitchFamily="18" charset="0"/>
                <a:ea typeface="Calibri" panose="020F0502020204030204" pitchFamily="34" charset="0"/>
                <a:cs typeface="Times New Roman" panose="02020603050405020304" pitchFamily="18" charset="0"/>
              </a:rPr>
              <a:t> </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[1] G. Alain and Y. Bengio, "What regularized auto-encoders gain from the data making allotment," J. Mach. Learn. Res., vol. 15, no. 1, pp. 3563–3593, 2014.</a:t>
            </a:r>
          </a:p>
          <a:p>
            <a:pPr marL="0" indent="0" algn="just">
              <a:lnSpc>
                <a:spcPct val="150000"/>
              </a:lnSpc>
              <a:spcAft>
                <a:spcPts val="800"/>
              </a:spcAft>
              <a:buNone/>
            </a:pP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[2] M. R.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Avendi</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A.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Kheradvar</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and H.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Jafarkhani</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"A solidified significant learning and deformable-model approach to manage totally customized division of the left ventricle in heart MRI,"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MedIA</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Image Anal., vol. 30, pp. 108–119, May 2016.</a:t>
            </a:r>
          </a:p>
          <a:p>
            <a:pPr marL="0" indent="0" algn="just">
              <a:lnSpc>
                <a:spcPct val="150000"/>
              </a:lnSpc>
              <a:spcAft>
                <a:spcPts val="800"/>
              </a:spcAft>
              <a:buNone/>
            </a:pP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[3] M. R.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Avendi</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A.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Kheradvar</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and H.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Jafarkhani</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"Modified division of the right ventricle from heart MRI using a learning-based system," in Magnetic Resonance in Medicine. New York, NY, USA: Wiley, Feb. 2017,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doi</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10.1002/mrm.26631. </a:t>
            </a:r>
          </a:p>
          <a:p>
            <a:pPr marL="0" indent="0" algn="just">
              <a:lnSpc>
                <a:spcPct val="150000"/>
              </a:lnSpc>
              <a:spcAft>
                <a:spcPts val="800"/>
              </a:spcAft>
              <a:buNone/>
            </a:pP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[4] W. Bai et al., "A bi-ventricular cardiovascular guide book worked from 1000+ significant standards MR pictures of sound subjects and an examination of shape and development,"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MedIA</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Image Anal., vol. 26, no. 1, pp. 133–145, 2015. </a:t>
            </a:r>
          </a:p>
          <a:p>
            <a:pPr marL="0" indent="0" algn="just">
              <a:lnSpc>
                <a:spcPct val="150000"/>
              </a:lnSpc>
              <a:spcAft>
                <a:spcPts val="800"/>
              </a:spcAft>
              <a:buNone/>
            </a:pP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[5] W. Bai et al., "A probabilistic fix based name blend model for </a:t>
            </a:r>
            <a:r>
              <a:rPr lang="en-IN" sz="1600" kern="100" dirty="0" err="1">
                <a:effectLst/>
                <a:latin typeface="Bookman Old Style" panose="02050604050505020204" pitchFamily="18" charset="0"/>
                <a:ea typeface="Calibri" panose="020F0502020204030204" pitchFamily="34" charset="0"/>
                <a:cs typeface="Times New Roman" panose="02020603050405020304" pitchFamily="18" charset="0"/>
              </a:rPr>
              <a:t>multiatlas</a:t>
            </a:r>
            <a:r>
              <a:rPr lang="en-IN" sz="1600" kern="100" dirty="0">
                <a:effectLst/>
                <a:latin typeface="Bookman Old Style" panose="02050604050505020204" pitchFamily="18" charset="0"/>
                <a:ea typeface="Calibri" panose="020F0502020204030204" pitchFamily="34" charset="0"/>
                <a:cs typeface="Times New Roman" panose="02020603050405020304" pitchFamily="18" charset="0"/>
              </a:rPr>
              <a:t> division with selection refinement: Application to cardiovascular MR pictures," IEEE Trans. Medication. Picture. vol. 32, no. 7, pp. 1302–1315, Jul. 2013. </a:t>
            </a:r>
          </a:p>
          <a:p>
            <a:pPr marL="0" indent="0" algn="just">
              <a:lnSpc>
                <a:spcPct val="200000"/>
              </a:lnSpc>
              <a:spcAft>
                <a:spcPts val="1000"/>
              </a:spcAft>
              <a:buNone/>
            </a:pPr>
            <a:endParaRPr lang="en-US" sz="1100" dirty="0">
              <a:effectLst/>
              <a:latin typeface="Bookman Old Style" panose="020506040505050202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3200"/>
            <a:ext cx="8305800" cy="1143000"/>
          </a:xfrm>
        </p:spPr>
        <p:txBody>
          <a:bodyPr/>
          <a:lstStyle/>
          <a:p>
            <a:r>
              <a:rPr lang="en-US" b="1" dirty="0"/>
              <a:t>                  THANK YOU</a:t>
            </a:r>
            <a:endParaRPr lang="en-IN" b="1" dirty="0"/>
          </a:p>
        </p:txBody>
      </p:sp>
      <p:sp>
        <p:nvSpPr>
          <p:cNvPr id="5" name="Slide Number Placeholder 4"/>
          <p:cNvSpPr>
            <a:spLocks noGrp="1"/>
          </p:cNvSpPr>
          <p:nvPr>
            <p:ph type="sldNum" sz="quarter" idx="12"/>
          </p:nvPr>
        </p:nvSpPr>
        <p:spPr/>
        <p:txBody>
          <a:bodyPr/>
          <a:lstStyle/>
          <a:p>
            <a:fld id="{6979DFC9-49C2-472C-8164-27EAFCE086AB}" type="slidenum">
              <a:rPr lang="en-US" smtClean="0"/>
              <a:t>22</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TotalTime>
  <Words>1393</Words>
  <Application>Microsoft Office PowerPoint</Application>
  <PresentationFormat>On-screen Show (4:3)</PresentationFormat>
  <Paragraphs>128</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Bookman Old Style</vt:lpstr>
      <vt:lpstr>Calibri</vt:lpstr>
      <vt:lpstr>Times New Roman</vt:lpstr>
      <vt:lpstr>Wingdings</vt:lpstr>
      <vt:lpstr>Blue Waves</vt:lpstr>
      <vt:lpstr>                                       </vt:lpstr>
      <vt:lpstr>OBJECTIVE OF THE PROJECT</vt:lpstr>
      <vt:lpstr>ABSTRACT</vt:lpstr>
      <vt:lpstr>INTRODUCTION</vt:lpstr>
      <vt:lpstr>EXISITING SYSTEM:</vt:lpstr>
      <vt:lpstr>PROPOSED METHOD</vt:lpstr>
      <vt:lpstr>FLOW CHART FOR PROPOSED METHOD</vt:lpstr>
      <vt:lpstr>PowerPoint Presentation</vt:lpstr>
      <vt:lpstr>PROCEDURE:</vt:lpstr>
      <vt:lpstr>REQUIREMENTS:</vt:lpstr>
      <vt:lpstr>.</vt:lpstr>
      <vt:lpstr>PowerPoint Presentation</vt:lpstr>
      <vt:lpstr>Result:</vt:lpstr>
      <vt:lpstr>PowerPoint Presentation</vt:lpstr>
      <vt:lpstr>PowerPoint Presentation</vt:lpstr>
      <vt:lpstr>PowerPoint Presentation</vt:lpstr>
      <vt:lpstr>ADVANTAGES:</vt:lpstr>
      <vt:lpstr>APPLICATIONS:</vt:lpstr>
      <vt:lpstr>CONCLUSION:</vt:lpstr>
      <vt:lpstr>FUTURE SCOPE:</vt:lpstr>
      <vt:lpstr>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user1</dc:creator>
  <cp:lastModifiedBy>gayathriganena05@outlook.com</cp:lastModifiedBy>
  <cp:revision>99</cp:revision>
  <dcterms:created xsi:type="dcterms:W3CDTF">2018-09-29T04:54:00Z</dcterms:created>
  <dcterms:modified xsi:type="dcterms:W3CDTF">2025-04-21T14:39:05Z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81FE2BBD43BC42A88170CB9843C0B82D_12</vt:lpwstr>
  </property>
  <property fmtid="{D5CDD505-2E9C-101B-9397-08002B2CF9AE}" pid="3" name="KSOProductBuildVer">
    <vt:lpwstr>1033-12.2.0.18283</vt:lpwstr>
  </property>
</Properties>
</file>